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PingFang SC"/>
              </a:rPr>
              <a:t>智联计算系统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CCFF"/>
                </a:solidFill>
                <a:latin typeface="PingFang SC"/>
              </a:rPr>
              <a:t>基于大模型的智能任务调度与自动部署平台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PingFang SC"/>
              </a:rPr>
              <a:t>Powered by Qwen (通义千问) · FastAPI · Vue3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EEFF"/>
                </a:solidFill>
                <a:latin typeface="PingFang SC"/>
              </a:rPr>
              <a:t>  自然语言意图解析  →  结构化参数提取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160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EEFF"/>
                </a:solidFill>
                <a:latin typeface="PingFang SC"/>
              </a:rPr>
              <a:t>  路由 DAG 生成  →  外部路由系统对接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663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EEFF"/>
                </a:solidFill>
                <a:latin typeface="PingFang SC"/>
              </a:rPr>
              <a:t>  定时自动部署  →  容器按计划启停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5166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EEFF"/>
                </a:solidFill>
                <a:latin typeface="PingFang SC"/>
              </a:rPr>
              <a:t>  业务指标自动采集  →  达标评估展示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系统整体流程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BDD"/>
                </a:solidFill>
                <a:latin typeface="PingFang SC"/>
              </a:rPr>
              <a:t>从自然语言到自动部署的完整链路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3796" y="164592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" y="17830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A1A2E"/>
                </a:solidFill>
                <a:latin typeface="PingFang SC"/>
              </a:rP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" y="2286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PingFang SC"/>
              </a:rPr>
              <a:t>用户对话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" y="2697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PingFang SC"/>
              </a:rPr>
              <a:t>自然语言描述
任务需求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6292" y="25603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3E8"/>
                </a:solidFill>
                <a:latin typeface="PingFang S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00884" y="164592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00884" y="17830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A1A2E"/>
                </a:solidFill>
                <a:latin typeface="PingFang SC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0884" y="2286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PingFang SC"/>
              </a:rPr>
              <a:t>意图解析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0884" y="2697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PingFang SC"/>
              </a:rPr>
              <a:t>qwen3-max
提取结构化参数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3380" y="25603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3E8"/>
                </a:solidFill>
                <a:latin typeface="PingFang S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7972" y="164592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7972" y="17830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A1A2E"/>
                </a:solidFill>
                <a:latin typeface="PingFang SC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7972" y="2286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PingFang SC"/>
              </a:rPr>
              <a:t>参数确认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7972" y="2697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PingFang SC"/>
              </a:rPr>
              <a:t>验证层过滤
用户确认提交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0468" y="25603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3E8"/>
                </a:solidFill>
                <a:latin typeface="PingFang S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5060" y="164592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5060" y="17830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A1A2E"/>
                </a:solidFill>
                <a:latin typeface="PingFang SC"/>
              </a:rPr>
              <a:t>🗺️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5060" y="2286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PingFang SC"/>
              </a:rPr>
              <a:t>路由计算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5060" y="2697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PingFang SC"/>
              </a:rPr>
              <a:t>生成DAG
外部系统分配节点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7556" y="25603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3E8"/>
                </a:solidFill>
                <a:latin typeface="PingFang S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2148" y="164592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2148" y="17830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A1A2E"/>
                </a:solidFill>
                <a:latin typeface="PingFang SC"/>
              </a:rPr>
              <a:t>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2148" y="2286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PingFang SC"/>
              </a:rPr>
              <a:t>自动部署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2148" y="2697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PingFang SC"/>
              </a:rPr>
              <a:t>APScheduler
定时启动容器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4644" y="25603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73E8"/>
                </a:solidFill>
                <a:latin typeface="PingFang SC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89236" y="164592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89236" y="17830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A1A2E"/>
                </a:solidFill>
                <a:latin typeface="PingFang SC"/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89236" y="2286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PingFang SC"/>
              </a:rPr>
              <a:t>指标采集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89236" y="2697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PingFang SC"/>
              </a:rPr>
              <a:t>容器上报耗时
自动评估达标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功能一：自然语言意图解析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BDD"/>
                </a:solidFill>
                <a:latin typeface="PingFang SC"/>
              </a:rPr>
              <a:t>用户无需填表，直接描述需求</a:t>
            </a:r>
          </a:p>
        </p:txBody>
      </p:sp>
      <p:pic>
        <p:nvPicPr>
          <p:cNvPr id="5" name="Picture 4" descr="05_chat_params_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46150400" cy="47966811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097280"/>
            <a:ext cx="3840480" cy="53035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234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PingFang SC"/>
              </a:rPr>
              <a:t>核心设计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73736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7830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PingFang SC"/>
              </a:rPr>
              <a:t>大模型只负责参数提取，
不自由发挥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74320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7889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PingFang SC"/>
              </a:rPr>
              <a:t>验证层拦截幻觉输出
节点名必须在数据库存在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749039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PingFang SC"/>
              </a:rPr>
              <a:t>参数不完整时主动追问
完整后出现确认按钮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75488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8006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PingFang SC"/>
              </a:rPr>
              <a:t>提交后对话锁定
防止重复提交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功能二：路由系统对接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BDD"/>
                </a:solidFill>
                <a:latin typeface="PingFang SC"/>
              </a:rPr>
              <a:t>生成 DAG，外部路由系统分配物理节点</a:t>
            </a:r>
          </a:p>
        </p:txBody>
      </p:sp>
      <p:pic>
        <p:nvPicPr>
          <p:cNvPr id="5" name="Picture 4" descr="13_admin_order_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58368000" cy="4232365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188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PingFang SC"/>
              </a:rPr>
              <a:t>对接流程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737360"/>
            <a:ext cx="411480" cy="411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7373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PingFang SC"/>
              </a:rPr>
              <a:t>提交工单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05740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</a:rPr>
              <a:t>routing_status = pending
routing_input_dag 写入 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926080"/>
            <a:ext cx="411480" cy="411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926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926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PingFang SC"/>
              </a:rPr>
              <a:t>外部系统扫表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2461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</a:rPr>
              <a:t>GET /api/orders
?routing_status=pending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4114800"/>
            <a:ext cx="411480" cy="411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41148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PingFang SC"/>
              </a:rPr>
              <a:t>路由计算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3484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</a:rPr>
              <a:t>分配物理节点 + GPU 编号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303520"/>
            <a:ext cx="411480" cy="411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5303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53035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PingFang SC"/>
              </a:rPr>
              <a:t>回写结果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56235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PingFang SC"/>
              </a:rPr>
              <a:t>POST /api/orders/{id}/routing-result
placements: [{node_id, worker_host, gpu}]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功能三：定时自动部署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BDD"/>
                </a:solidFill>
                <a:latin typeface="PingFang SC"/>
              </a:rPr>
              <a:t>APScheduler 按计划时间自动启停容器</a:t>
            </a:r>
          </a:p>
        </p:txBody>
      </p:sp>
      <p:pic>
        <p:nvPicPr>
          <p:cNvPr id="5" name="Picture 4" descr="14_admin_order_dep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58368000" cy="4232365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188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PingFang SC"/>
              </a:rPr>
              <a:t>部署链路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737360"/>
            <a:ext cx="4480560" cy="804672"/>
          </a:xfrm>
          <a:prstGeom prst="rect">
            <a:avLst/>
          </a:prstGeom>
          <a:solidFill>
            <a:srgbClr val="F0F4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0" y="1783080"/>
            <a:ext cx="4297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PingFang SC"/>
              </a:rPr>
              <a:t>路由结果回写后
自动创建 TaskInstance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2633472"/>
            <a:ext cx="4480560" cy="804672"/>
          </a:xfrm>
          <a:prstGeom prst="rect">
            <a:avLst/>
          </a:prstGeom>
          <a:solidFill>
            <a:srgbClr val="F0F4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0" y="2679191"/>
            <a:ext cx="4297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PingFang SC"/>
              </a:rPr>
              <a:t>APScheduler 注册定时任务
business_start_time 触发启动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3529584"/>
            <a:ext cx="4480560" cy="804672"/>
          </a:xfrm>
          <a:prstGeom prst="rect">
            <a:avLst/>
          </a:prstGeom>
          <a:solidFill>
            <a:srgbClr val="F0F4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3575304"/>
            <a:ext cx="4297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PingFang SC"/>
              </a:rPr>
              <a:t>逐节点 HTTP 推送 node_agent
node_agent 执行 docker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4425696"/>
            <a:ext cx="4480560" cy="804672"/>
          </a:xfrm>
          <a:prstGeom prst="rect">
            <a:avLst/>
          </a:prstGeom>
          <a:solidFill>
            <a:srgbClr val="F0F4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4471416"/>
            <a:ext cx="4297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PingFang SC"/>
              </a:rPr>
              <a:t>GPU_DEVICE 环境变量注入容器
business_end_time 自动停止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5321808"/>
            <a:ext cx="4480560" cy="804672"/>
          </a:xfrm>
          <a:prstGeom prst="rect">
            <a:avLst/>
          </a:prstGeom>
          <a:solidFill>
            <a:srgbClr val="F0F4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5367528"/>
            <a:ext cx="4297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PingFang SC"/>
              </a:rPr>
              <a:t>停止后触发业务指标采集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用户端：我的工单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BDD"/>
                </a:solidFill>
                <a:latin typeface="PingFang SC"/>
              </a:rPr>
              <a:t>普通用户查看自己的任务状态</a:t>
            </a:r>
          </a:p>
        </p:txBody>
      </p:sp>
      <p:pic>
        <p:nvPicPr>
          <p:cNvPr id="5" name="Picture 4" descr="06_order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91992319" cy="5091379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管理后台：业务工单中心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BDD"/>
                </a:solidFill>
                <a:latin typeface="PingFang SC"/>
              </a:rPr>
              <a:t>全局工单视图 + 业务指标统计</a:t>
            </a:r>
          </a:p>
        </p:txBody>
      </p:sp>
      <p:pic>
        <p:nvPicPr>
          <p:cNvPr id="5" name="Picture 4" descr="11_admin_business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91992319" cy="5091379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功能四：业务指标自动采集与评估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BDD"/>
                </a:solidFill>
                <a:latin typeface="PingFang SC"/>
              </a:rPr>
              <a:t>任务停止后自动评估是否达标</a:t>
            </a:r>
          </a:p>
        </p:txBody>
      </p:sp>
      <p:pic>
        <p:nvPicPr>
          <p:cNvPr id="5" name="Picture 4" descr="15_admin_order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4702720" cy="4401660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1887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PingFang SC"/>
              </a:rPr>
              <a:t>评估流程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737360"/>
            <a:ext cx="4297680" cy="804672"/>
          </a:xfrm>
          <a:prstGeom prst="rect">
            <a:avLst/>
          </a:prstGeom>
          <a:solidFill>
            <a:srgbClr val="F0F4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783080"/>
            <a:ext cx="4114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PingFang SC"/>
              </a:rPr>
              <a:t>容器上报计算耗时
POST /api/metrics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2633472"/>
            <a:ext cx="4297680" cy="804672"/>
          </a:xfrm>
          <a:prstGeom prst="rect">
            <a:avLst/>
          </a:prstGeom>
          <a:solidFill>
            <a:srgbClr val="F0F4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679191"/>
            <a:ext cx="4114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PingFang SC"/>
              </a:rPr>
              <a:t>对比 target_value
（业务目标设定值）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3529584"/>
            <a:ext cx="4297680" cy="804672"/>
          </a:xfrm>
          <a:prstGeom prst="rect">
            <a:avLst/>
          </a:prstGeom>
          <a:solidFill>
            <a:srgbClr val="F0F4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575304"/>
            <a:ext cx="4114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PingFang SC"/>
              </a:rPr>
              <a:t>写入 business_objective
_evaluations 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4425696"/>
            <a:ext cx="4297680" cy="804672"/>
          </a:xfrm>
          <a:prstGeom prst="rect">
            <a:avLst/>
          </a:prstGeom>
          <a:solidFill>
            <a:srgbClr val="F0FFF4"/>
          </a:solidFill>
          <a:ln w="1270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471416"/>
            <a:ext cx="4114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PingFang SC"/>
              </a:rPr>
              <a:t>business_success 标记达标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5321808"/>
            <a:ext cx="4297680" cy="804672"/>
          </a:xfrm>
          <a:prstGeom prst="rect">
            <a:avLst/>
          </a:prstGeom>
          <a:solidFill>
            <a:srgbClr val="F0F4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5367528"/>
            <a:ext cx="4114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PingFang SC"/>
              </a:rPr>
              <a:t>结果 Tab 展示：
输入参数 / 计算输出
一致性校验 / 耗时验收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管理后台：节点管理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BDD"/>
                </a:solidFill>
                <a:latin typeface="PingFang SC"/>
              </a:rPr>
              <a:t>查看所有计算节点状态和 GPU 资源</a:t>
            </a:r>
          </a:p>
        </p:txBody>
      </p:sp>
      <p:pic>
        <p:nvPicPr>
          <p:cNvPr id="5" name="Picture 4" descr="11_admin_business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91992319" cy="5091379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</a:rPr>
              <a:t>系统能力总结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2926080"/>
          </a:xfrm>
          <a:prstGeom prst="rect">
            <a:avLst/>
          </a:prstGeom>
          <a:solidFill>
            <a:srgbClr val="1E2A4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337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6BBFF"/>
                </a:solidFill>
                <a:latin typeface="PingFang SC"/>
              </a:rPr>
              <a:t>意图解析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  <a:latin typeface="PingFang SC"/>
              </a:rPr>
              <a:t>自然语言 → 结构化参数
大模型 + 确定性验证层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3200400"/>
            <a:ext cx="2651760" cy="2926080"/>
          </a:xfrm>
          <a:prstGeom prst="rect">
            <a:avLst/>
          </a:prstGeom>
          <a:solidFill>
            <a:srgbClr val="1E2A4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3337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6BBFF"/>
                </a:solidFill>
                <a:latin typeface="PingFang SC"/>
              </a:rPr>
              <a:t>路由对接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8404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  <a:latin typeface="PingFang SC"/>
              </a:rPr>
              <a:t>DAG 生成 + REST API
外部系统无缝集成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200400"/>
            <a:ext cx="2651760" cy="2926080"/>
          </a:xfrm>
          <a:prstGeom prst="rect">
            <a:avLst/>
          </a:prstGeom>
          <a:solidFill>
            <a:srgbClr val="1E2A4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337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6BBFF"/>
                </a:solidFill>
                <a:latin typeface="PingFang SC"/>
              </a:rPr>
              <a:t>自动部署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8404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  <a:latin typeface="PingFang SC"/>
              </a:rPr>
              <a:t>定时调度 + 多节点
GPU 精确分配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3200400"/>
            <a:ext cx="2651760" cy="2926080"/>
          </a:xfrm>
          <a:prstGeom prst="rect">
            <a:avLst/>
          </a:prstGeom>
          <a:solidFill>
            <a:srgbClr val="1E2A4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3337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6BBFF"/>
                </a:solidFill>
                <a:latin typeface="PingFang SC"/>
              </a:rPr>
              <a:t>指标评估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38404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  <a:latin typeface="PingFang SC"/>
              </a:rPr>
              <a:t>自动采集 + 达标判断
可视化结果展示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