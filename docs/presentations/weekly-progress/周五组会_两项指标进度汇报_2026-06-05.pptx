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周五组会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10881360" cy="4206240"/>
          </a:xfrm>
          <a:prstGeom prst="roundRect">
            <a:avLst>
              <a:gd name="adj" fmla="val 3913"/>
            </a:avLst>
          </a:prstGeom>
          <a:solidFill>
            <a:srgbClr val="102C3D">
              <a:alpha val="95000"/>
            </a:srgbClr>
          </a:solidFill>
          <a:ln w="12700">
            <a:solidFill>
              <a:srgbClr val="244B5E">
                <a:alpha val="8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481328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3DDCFF">
              <a:alpha val="92000"/>
            </a:srgbClr>
          </a:solidFill>
          <a:ln w="7620">
            <a:solidFill>
              <a:srgbClr val="3DDCFF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316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进度汇报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96112" y="188366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两项验收指标测试进度汇报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14400" y="261518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意图解析参数提取准确率  |  业务目标成功率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围绕任务书验收口径，汇报当前定义、测试方案、已完成进度、问题与下周计划。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58200" y="1536192"/>
            <a:ext cx="2487168" cy="1170432"/>
          </a:xfrm>
          <a:prstGeom prst="roundRect">
            <a:avLst>
              <a:gd name="adj" fmla="val 9375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1719072"/>
            <a:ext cx="20299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指标一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686800" y="194767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2E2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86800" y="2386584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意图参数提取准确率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8458200" y="2944368"/>
            <a:ext cx="2487168" cy="1170432"/>
          </a:xfrm>
          <a:prstGeom prst="roundRect">
            <a:avLst>
              <a:gd name="adj" fmla="val 9375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3127248"/>
            <a:ext cx="20299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指标二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686800" y="3355848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2E2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0" y="379476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业务目标成功率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914400" y="4617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智联计算系统 · 两项验收指标进度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一页结论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总体进度判断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两个指标的测试链路已经跑通；当前重点是正式留档、口径核对和外部路由联调。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691640"/>
            <a:ext cx="3383280" cy="1170432"/>
          </a:xfrm>
          <a:prstGeom prst="roundRect">
            <a:avLst>
              <a:gd name="adj" fmla="val 9375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74520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意图解析参数提取准确率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86968" y="210312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2E2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360/360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6968" y="254203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真实大模型 Batch 评测记录，准确率 100%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4407408" y="1691640"/>
            <a:ext cx="3383280" cy="1170432"/>
          </a:xfrm>
          <a:prstGeom prst="roundRect">
            <a:avLst>
              <a:gd name="adj" fmla="val 9375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874520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业务目标成功率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36008" y="210312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15/15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36008" y="254203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当前远端轮次可查询样本全部达标，成功率 100%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8156448" y="1691640"/>
            <a:ext cx="3383280" cy="1170432"/>
          </a:xfrm>
          <a:prstGeom prst="roundRect">
            <a:avLst>
              <a:gd name="adj" fmla="val 9375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1874520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正式验收目标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85048" y="210312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85048" y="254203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个可评价任务中至少 27 个达标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658368" y="3383280"/>
            <a:ext cx="10881360" cy="2240280"/>
          </a:xfrm>
          <a:prstGeom prst="roundRect">
            <a:avLst>
              <a:gd name="adj" fmla="val 4898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6393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当前可以汇报的结论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4005072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意图解析：数据集构造、规则兜底、真实 Qwen Batch 评测、前端评测看板均已具备。</a:t>
            </a:r>
            <a:endParaRPr lang="en-US" sz="1200" dirty="0"/>
          </a:p>
          <a:p>
            <a:r>
              <a:rPr lang="en-US" sz="12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业务目标：矩阵乘法 source -&gt; compute -&gt; sink 部署、GPU 分配、指标上报与 baseline 判定闭环已跑通。</a:t>
            </a:r>
            <a:endParaRPr lang="en-US" sz="1200" dirty="0"/>
          </a:p>
          <a:p>
            <a:r>
              <a:rPr lang="en-US" sz="12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当前风险：业务目标正式 30 样本留档口径需最后核对；外部路由系统 placements/GPU 回写需联调。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5065776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意图解析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32688" y="5321808"/>
            <a:ext cx="4480560" cy="201168"/>
          </a:xfrm>
          <a:prstGeom prst="roundRect">
            <a:avLst>
              <a:gd name="adj" fmla="val 36364"/>
            </a:avLst>
          </a:prstGeom>
          <a:solidFill>
            <a:srgbClr val="04111C">
              <a:alpha val="85000"/>
            </a:srgbClr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5321808"/>
            <a:ext cx="4480560" cy="201168"/>
          </a:xfrm>
          <a:prstGeom prst="roundRect">
            <a:avLst>
              <a:gd name="adj" fmla="val 36364"/>
            </a:avLst>
          </a:prstGeom>
          <a:solidFill>
            <a:srgbClr val="62E29A"/>
          </a:solidFill>
          <a:ln w="12700">
            <a:solidFill>
              <a:srgbClr val="62E29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5568696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/ 目标 90%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06440" y="5065776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业务目标当前可评价样本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06440" y="5321808"/>
            <a:ext cx="4480560" cy="201168"/>
          </a:xfrm>
          <a:prstGeom prst="roundRect">
            <a:avLst>
              <a:gd name="adj" fmla="val 36364"/>
            </a:avLst>
          </a:prstGeom>
          <a:solidFill>
            <a:srgbClr val="04111C">
              <a:alpha val="85000"/>
            </a:srgbClr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5321808"/>
            <a:ext cx="4480560" cy="201168"/>
          </a:xfrm>
          <a:prstGeom prst="roundRect">
            <a:avLst>
              <a:gd name="adj" fmla="val 36364"/>
            </a:avLst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5568696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/ 样本数待补齐核对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智联计算系统 · 两项验收指标进度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指标定义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指标一：意图解析参数提取准确率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验证系统能否把用户自然语言稳定解析为结构化业务工单参数。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627632"/>
            <a:ext cx="5212080" cy="4069080"/>
          </a:xfrm>
          <a:prstGeom prst="roundRect">
            <a:avLst>
              <a:gd name="adj" fmla="val 2697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01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 = 全字段正确样本数 / 总样本数 × 100%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4480560" cy="1325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3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任务类型、源节点、目的节点精确匹配</a:t>
            </a:r>
            <a:endParaRPr lang="en-US" sz="1130" dirty="0"/>
          </a:p>
          <a:p>
            <a:r>
              <a:rPr lang="en-US" sz="113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开始/结束时间按持续时长校验</a:t>
            </a:r>
            <a:endParaRPr lang="en-US" sz="1130" dirty="0"/>
          </a:p>
          <a:p>
            <a:r>
              <a:rPr lang="en-US" sz="113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业务参数 profile 与路由策略精确匹配</a:t>
            </a:r>
            <a:endParaRPr lang="en-US" sz="1130" dirty="0"/>
          </a:p>
          <a:p>
            <a:r>
              <a:rPr lang="en-US" sz="113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缺字段/错误节点样本需正确判定 incomplete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236208" y="1627632"/>
            <a:ext cx="5257800" cy="4069080"/>
          </a:xfrm>
          <a:prstGeom prst="roundRect">
            <a:avLst>
              <a:gd name="adj" fmla="val 2697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01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解析后输出字段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10528" y="2359152"/>
            <a:ext cx="2395728" cy="274320"/>
          </a:xfrm>
          <a:prstGeom prst="roundRect">
            <a:avLst>
              <a:gd name="adj" fmla="val 26667"/>
            </a:avLst>
          </a:prstGeom>
          <a:solidFill>
            <a:srgbClr val="27D6A4">
              <a:alpha val="92000"/>
            </a:srgbClr>
          </a:solidFill>
          <a:ln w="7620">
            <a:solidFill>
              <a:srgbClr val="27D6A4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2409444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task_type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098280" y="241401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业务类型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510528" y="2752344"/>
            <a:ext cx="2395728" cy="274320"/>
          </a:xfrm>
          <a:prstGeom prst="roundRect">
            <a:avLst>
              <a:gd name="adj" fmla="val 26667"/>
            </a:avLst>
          </a:prstGeom>
          <a:solidFill>
            <a:srgbClr val="3DDCFF">
              <a:alpha val="92000"/>
            </a:srgbClr>
          </a:solidFill>
          <a:ln w="7620">
            <a:solidFill>
              <a:srgbClr val="3DDCF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802636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source_name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098280" y="280720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源节点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6510528" y="3145536"/>
            <a:ext cx="2395728" cy="274320"/>
          </a:xfrm>
          <a:prstGeom prst="roundRect">
            <a:avLst>
              <a:gd name="adj" fmla="val 26667"/>
            </a:avLst>
          </a:prstGeom>
          <a:solidFill>
            <a:srgbClr val="27D6A4">
              <a:alpha val="92000"/>
            </a:srgbClr>
          </a:solidFill>
          <a:ln w="7620">
            <a:solidFill>
              <a:srgbClr val="27D6A4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3195828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destination_name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098280" y="32004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目的节点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510528" y="3538728"/>
            <a:ext cx="2395728" cy="274320"/>
          </a:xfrm>
          <a:prstGeom prst="roundRect">
            <a:avLst>
              <a:gd name="adj" fmla="val 26667"/>
            </a:avLst>
          </a:prstGeom>
          <a:solidFill>
            <a:srgbClr val="3DDCFF">
              <a:alpha val="92000"/>
            </a:srgbClr>
          </a:solidFill>
          <a:ln w="7620">
            <a:solidFill>
              <a:srgbClr val="3DDCF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358902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business_start/end_time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098280" y="35935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时间窗口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6510528" y="3931920"/>
            <a:ext cx="2395728" cy="274320"/>
          </a:xfrm>
          <a:prstGeom prst="roundRect">
            <a:avLst>
              <a:gd name="adj" fmla="val 26667"/>
            </a:avLst>
          </a:prstGeom>
          <a:solidFill>
            <a:srgbClr val="27D6A4">
              <a:alpha val="92000"/>
            </a:srgbClr>
          </a:solidFill>
          <a:ln w="7620">
            <a:solidFill>
              <a:srgbClr val="27D6A4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3982212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data_profile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098280" y="3986784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业务参数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510528" y="4325112"/>
            <a:ext cx="2395728" cy="274320"/>
          </a:xfrm>
          <a:prstGeom prst="roundRect">
            <a:avLst>
              <a:gd name="adj" fmla="val 26667"/>
            </a:avLst>
          </a:prstGeom>
          <a:solidFill>
            <a:srgbClr val="3DDCFF">
              <a:alpha val="92000"/>
            </a:srgbClr>
          </a:solidFill>
          <a:ln w="7620">
            <a:solidFill>
              <a:srgbClr val="3DDCFF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4375404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runtime_plan.routing_strategy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098280" y="437997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路由策略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6510528" y="4718304"/>
            <a:ext cx="2395728" cy="274320"/>
          </a:xfrm>
          <a:prstGeom prst="roundRect">
            <a:avLst>
              <a:gd name="adj" fmla="val 26667"/>
            </a:avLst>
          </a:prstGeom>
          <a:solidFill>
            <a:srgbClr val="27D6A4">
              <a:alpha val="92000"/>
            </a:srgbClr>
          </a:solidFill>
          <a:ln w="7620">
            <a:solidFill>
              <a:srgbClr val="27D6A4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4768596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parse_status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098280" y="477316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完整性状态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智联计算系统 · 两项验收指标进度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指标一进度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意图解析：已跑通真实大模型 Batch 评测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360 条多业务数据集，覆盖有效输入、缺字段、错误节点和三类业务模态。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664208"/>
            <a:ext cx="2468880" cy="1170432"/>
          </a:xfrm>
          <a:prstGeom prst="roundRect">
            <a:avLst>
              <a:gd name="adj" fmla="val 9375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4708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固定数据集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207568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multi_business.jsonl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3401568" y="1664208"/>
            <a:ext cx="2468880" cy="1170432"/>
          </a:xfrm>
          <a:prstGeom prst="roundRect">
            <a:avLst>
              <a:gd name="adj" fmla="val 9375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184708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LLM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30168" y="207568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2E2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30168" y="25146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qwen3.7-plus Batch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6126480" y="1664208"/>
            <a:ext cx="2468880" cy="1170432"/>
          </a:xfrm>
          <a:prstGeom prst="roundRect">
            <a:avLst>
              <a:gd name="adj" fmla="val 9375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84708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准确率记录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55080" y="207568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2E2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25146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360/360 全字段匹配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8851392" y="1664208"/>
            <a:ext cx="2468880" cy="1170432"/>
          </a:xfrm>
          <a:prstGeom prst="roundRect">
            <a:avLst>
              <a:gd name="adj" fmla="val 9375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9992" y="184708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079992" y="207568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79992" y="25146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通过验收阈值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685800" y="3246120"/>
            <a:ext cx="5303520" cy="2331720"/>
          </a:xfrm>
          <a:prstGeom prst="roundRect">
            <a:avLst>
              <a:gd name="adj" fmla="val 4706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4930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数据集分布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3886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2880360" y="3922776"/>
            <a:ext cx="2057400" cy="146304"/>
          </a:xfrm>
          <a:prstGeom prst="rect">
            <a:avLst/>
          </a:prstGeom>
          <a:solidFill>
            <a:srgbClr val="04111C">
              <a:alpha val="80000"/>
            </a:srgbClr>
          </a:solidFill>
          <a:ln w="12700">
            <a:solidFill>
              <a:srgbClr val="0411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3922776"/>
            <a:ext cx="2057400" cy="146304"/>
          </a:xfrm>
          <a:prstGeom prst="rect">
            <a:avLst/>
          </a:prstGeom>
          <a:solidFill>
            <a:srgbClr val="62E29A"/>
          </a:solidFill>
          <a:ln w="12700">
            <a:solidFill>
              <a:srgbClr val="62E29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3877056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60120" y="42245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missing_source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880360" y="4261104"/>
            <a:ext cx="2057400" cy="146304"/>
          </a:xfrm>
          <a:prstGeom prst="rect">
            <a:avLst/>
          </a:prstGeom>
          <a:solidFill>
            <a:srgbClr val="04111C">
              <a:alpha val="80000"/>
            </a:srgbClr>
          </a:solidFill>
          <a:ln w="12700">
            <a:solidFill>
              <a:srgbClr val="04111C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80360" y="4261104"/>
            <a:ext cx="180330" cy="146304"/>
          </a:xfrm>
          <a:prstGeom prst="rect">
            <a:avLst/>
          </a:prstGeom>
          <a:solidFill>
            <a:srgbClr val="3DDCFF"/>
          </a:solidFill>
          <a:ln w="12700">
            <a:solidFill>
              <a:srgbClr val="3DDC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4215384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60120" y="45628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missing_destination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2880360" y="4599432"/>
            <a:ext cx="2057400" cy="146304"/>
          </a:xfrm>
          <a:prstGeom prst="rect">
            <a:avLst/>
          </a:prstGeom>
          <a:solidFill>
            <a:srgbClr val="04111C">
              <a:alpha val="80000"/>
            </a:srgbClr>
          </a:solidFill>
          <a:ln w="12700">
            <a:solidFill>
              <a:srgbClr val="04111C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4599432"/>
            <a:ext cx="180330" cy="146304"/>
          </a:xfrm>
          <a:prstGeom prst="rect">
            <a:avLst/>
          </a:prstGeom>
          <a:solidFill>
            <a:srgbClr val="3DDCFF"/>
          </a:solidFill>
          <a:ln w="12700">
            <a:solidFill>
              <a:srgbClr val="3DDC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7488" y="455371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60120" y="49011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missing_time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2880360" y="4937760"/>
            <a:ext cx="2057400" cy="146304"/>
          </a:xfrm>
          <a:prstGeom prst="rect">
            <a:avLst/>
          </a:prstGeom>
          <a:solidFill>
            <a:srgbClr val="04111C">
              <a:alpha val="80000"/>
            </a:srgbClr>
          </a:solidFill>
          <a:ln w="12700">
            <a:solidFill>
              <a:srgbClr val="04111C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0360" y="4937760"/>
            <a:ext cx="180330" cy="14630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7488" y="4892040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60120" y="52395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wrong_node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2880360" y="5276088"/>
            <a:ext cx="2057400" cy="146304"/>
          </a:xfrm>
          <a:prstGeom prst="rect">
            <a:avLst/>
          </a:prstGeom>
          <a:solidFill>
            <a:srgbClr val="04111C">
              <a:alpha val="80000"/>
            </a:srgbClr>
          </a:solidFill>
          <a:ln w="12700">
            <a:solidFill>
              <a:srgbClr val="04111C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880360" y="5276088"/>
            <a:ext cx="352463" cy="14630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47488" y="5230368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63640" y="3246120"/>
            <a:ext cx="5074920" cy="2331720"/>
          </a:xfrm>
          <a:prstGeom prst="roundRect">
            <a:avLst>
              <a:gd name="adj" fmla="val 4706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34930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已完成能力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10528" y="3877056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8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 + 槽位自动扩展，数据集可复现</a:t>
            </a:r>
            <a:endParaRPr lang="en-US" sz="1080" dirty="0"/>
          </a:p>
          <a:p>
            <a:r>
              <a:rPr lang="en-US" sz="108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支持规则兜底评测与真实大模型 Batch 评测</a:t>
            </a:r>
            <a:endParaRPr lang="en-US" sz="1080" dirty="0"/>
          </a:p>
          <a:p>
            <a:r>
              <a:rPr lang="en-US" sz="108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前端页面支持样本明细、成功/失败样本和文件下载</a:t>
            </a:r>
            <a:endParaRPr lang="en-US" sz="1080" dirty="0"/>
          </a:p>
          <a:p>
            <a:r>
              <a:rPr lang="en-US" sz="108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单条解析检测可用于演示和排错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智联计算系统 · 两项验收指标进度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系统截图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系统截图：意图解析评测看板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用页面截图证明评测流程、Batch 结果、样本明细和字段判定均已可视化。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F6FAFF"/>
          </a:solidFill>
          <a:ln w="10160">
            <a:solidFill>
              <a:srgbClr val="3DDCFF">
                <a:alpha val="90000"/>
              </a:srgbClr>
            </a:solidFill>
            <a:prstDash val="solid"/>
          </a:ln>
        </p:spPr>
      </p:sp>
      <p:pic>
        <p:nvPicPr>
          <p:cNvPr id="9" name="Image 0" descr="docs/presentations/weekly-progress/screenshots/intent-evaluatio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64208"/>
            <a:ext cx="5166360" cy="369825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9808" y="5632704"/>
            <a:ext cx="5166360" cy="219456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5669280"/>
            <a:ext cx="49834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0B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评测看板：360 条固定数据集，真实 Qwen Batch 与规则兜底结果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6199632" y="1572768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F6FAFF"/>
          </a:solidFill>
          <a:ln w="10160">
            <a:solidFill>
              <a:srgbClr val="3DDCFF">
                <a:alpha val="90000"/>
              </a:srgbClr>
            </a:solidFill>
            <a:prstDash val="solid"/>
          </a:ln>
        </p:spPr>
      </p:sp>
      <p:pic>
        <p:nvPicPr>
          <p:cNvPr id="13" name="Image 1" descr="docs/presentations/weekly-progress/screenshots/intent-evaluation-samp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664208"/>
            <a:ext cx="5166360" cy="369825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91072" y="5632704"/>
            <a:ext cx="5166360" cy="219456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82512" y="5669280"/>
            <a:ext cx="49834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0B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样本明细：单条输入、解析结果、字段级期望值/解析值对比</a:t>
            </a:r>
            <a:endParaRPr lang="en-US" sz="720" dirty="0"/>
          </a:p>
        </p:txBody>
      </p:sp>
      <p:sp>
        <p:nvSpPr>
          <p:cNvPr id="16" name="Text 12"/>
          <p:cNvSpPr/>
          <p:nvPr/>
        </p:nvSpPr>
        <p:spPr>
          <a:xfrm>
            <a:off x="777240" y="6144768"/>
            <a:ext cx="10378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汇报时可强调：评测不是只看一个总分，而是能下钻到每个样本，检查缺字段、错误节点、时间窗口和业务参数是否按规则判定。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智联计算系统 · 两项验收指标进度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指标定义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指标二：业务目标成功率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验证路由放置后的业务容器是否真实运行，并达到节点历史基准能力。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627632"/>
            <a:ext cx="5166360" cy="4206240"/>
          </a:xfrm>
          <a:prstGeom prst="roundRect">
            <a:avLst>
              <a:gd name="adj" fmla="val 2609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304288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业务目标成功率 = 达标工单数 / 已完成可评价工单数 × 100%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017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矩阵计算业务目标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401568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8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过程性指标：effective_gflops</a:t>
            </a:r>
            <a:endParaRPr lang="en-US" sz="1080" dirty="0"/>
          </a:p>
          <a:p>
            <a:r>
              <a:rPr lang="en-US" sz="108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达标条件：actual ≥ baseline × 0.8</a:t>
            </a:r>
            <a:endParaRPr lang="en-US" sz="1080" dirty="0"/>
          </a:p>
          <a:p>
            <a:r>
              <a:rPr lang="en-US" sz="108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采集方式：compute 持续采样，sink 汇总上报</a:t>
            </a:r>
            <a:endParaRPr lang="en-US" sz="1080" dirty="0"/>
          </a:p>
          <a:p>
            <a:r>
              <a:rPr lang="en-US" sz="108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不以绝对完成时间作为业务目标，避免输入规模差异干扰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36208" y="1627632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19019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随路计算数据流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37960" y="2514600"/>
            <a:ext cx="1371600" cy="530352"/>
          </a:xfrm>
          <a:prstGeom prst="roundRect">
            <a:avLst>
              <a:gd name="adj" fmla="val 20690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67919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247888" y="2514600"/>
            <a:ext cx="1417320" cy="530352"/>
          </a:xfrm>
          <a:prstGeom prst="roundRect">
            <a:avLst>
              <a:gd name="adj" fmla="val 20690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267919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compute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10012680" y="2514600"/>
            <a:ext cx="1234440" cy="530352"/>
          </a:xfrm>
          <a:prstGeom prst="roundRect">
            <a:avLst>
              <a:gd name="adj" fmla="val 20690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12680" y="267919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sink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909560" y="2779776"/>
            <a:ext cx="320040" cy="0"/>
          </a:xfrm>
          <a:prstGeom prst="line">
            <a:avLst/>
          </a:prstGeom>
          <a:noFill/>
          <a:ln w="17780">
            <a:solidFill>
              <a:srgbClr val="3DDC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65208" y="2779776"/>
            <a:ext cx="329184" cy="0"/>
          </a:xfrm>
          <a:prstGeom prst="line">
            <a:avLst/>
          </a:prstGeom>
          <a:noFill/>
          <a:ln w="17780">
            <a:solidFill>
              <a:srgbClr val="3DDCF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510528" y="365760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8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外部路由返回 source / compute / sink placements</a:t>
            </a:r>
            <a:endParaRPr lang="en-US" sz="1080" dirty="0"/>
          </a:p>
          <a:p>
            <a:r>
              <a:rPr lang="en-US" sz="108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compute 节点携带 GPU 编号，注入容器环境变量</a:t>
            </a:r>
            <a:endParaRPr lang="en-US" sz="1080" dirty="0"/>
          </a:p>
          <a:p>
            <a:r>
              <a:rPr lang="en-US" sz="108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Manager 根据 compute 节点 baseline 判定达标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智联计算系统 · 两项验收指标进度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指标二进度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业务目标：矩阵乘法闭环已在四节点环境跑通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当前重点是把正式 30 任务样本、截图和 JSON 报告统一留档。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2487168" cy="1170432"/>
          </a:xfrm>
          <a:prstGeom prst="roundRect">
            <a:avLst>
              <a:gd name="adj" fmla="val 9375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20299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测试拓扑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节点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450592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admin-server + compute-1/2/3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3429000" y="1600200"/>
            <a:ext cx="2487168" cy="1170432"/>
          </a:xfrm>
          <a:prstGeom prst="roundRect">
            <a:avLst>
              <a:gd name="adj" fmla="val 9375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783080"/>
            <a:ext cx="20299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当前可查询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0" y="2011680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15/15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2450592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已评价样本全部达标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6172200" y="1600200"/>
            <a:ext cx="2487168" cy="1170432"/>
          </a:xfrm>
          <a:prstGeom prst="roundRect">
            <a:avLst>
              <a:gd name="adj" fmla="val 9375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20299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成功率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2E2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2450592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目标阈值 ≥90%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8915400" y="1600200"/>
            <a:ext cx="2487168" cy="1170432"/>
          </a:xfrm>
          <a:prstGeom prst="roundRect">
            <a:avLst>
              <a:gd name="adj" fmla="val 9375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1783080"/>
            <a:ext cx="20299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144000" y="2011680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0" y="2450592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显示节点/GPU/后端/指标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685800" y="3154680"/>
            <a:ext cx="5285232" cy="2359152"/>
          </a:xfrm>
          <a:prstGeom prst="roundRect">
            <a:avLst>
              <a:gd name="adj" fmla="val 4651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410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已完成链路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3803904"/>
            <a:ext cx="4434840" cy="1170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远端 Node Agent 控制容器创建、启动、停止与清理</a:t>
            </a:r>
            <a:endParaRPr lang="en-US" sz="1060" dirty="0"/>
          </a:p>
          <a:p>
            <a:r>
              <a:rPr lang="en-US" sz="10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 路由可返回 compute GPU 设备号</a:t>
            </a:r>
            <a:endParaRPr lang="en-US" sz="1060" dirty="0"/>
          </a:p>
          <a:p>
            <a:r>
              <a:rPr lang="en-US" sz="10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上报 backend=cupy_gpu、gpu_device、effective_gflops</a:t>
            </a:r>
            <a:endParaRPr lang="en-US" sz="1060" dirty="0"/>
          </a:p>
          <a:p>
            <a:r>
              <a:rPr lang="en-US" sz="106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业务工单中心可筛选 benchmark_run_id 并查看详情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6263640" y="3154680"/>
            <a:ext cx="5102352" cy="2359152"/>
          </a:xfrm>
          <a:prstGeom prst="roundRect">
            <a:avLst>
              <a:gd name="adj" fmla="val 4651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410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谨慎说明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382219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8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当前接口返回：count=30，evaluated=15，success=15</a:t>
            </a:r>
            <a:endParaRPr lang="en-US" sz="1080" dirty="0"/>
          </a:p>
          <a:p>
            <a:r>
              <a:rPr lang="en-US" sz="108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前序文档记录过 30/30，正式汇报前需重新核对口径</a:t>
            </a:r>
            <a:endParaRPr lang="en-US" sz="1080" dirty="0"/>
          </a:p>
          <a:p>
            <a:r>
              <a:rPr lang="en-US" sz="108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正式留档建议补齐 Step1/Step3/详情/Step4 截图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智联计算系统 · 两项验收指标进度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系统截图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系统截图：业务目标验收与工单证据链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远端 admin-server 页面截图，展示基线、压测参数、工单详情、原始 JSON 和业务目标。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F6FAFF"/>
          </a:solidFill>
          <a:ln w="10160">
            <a:solidFill>
              <a:srgbClr val="3DDCFF">
                <a:alpha val="90000"/>
              </a:srgbClr>
            </a:solidFill>
            <a:prstDash val="solid"/>
          </a:ln>
        </p:spPr>
      </p:sp>
      <p:pic>
        <p:nvPicPr>
          <p:cNvPr id="9" name="Image 0" descr="docs/presentations/weekly-progress/screenshots/benchmark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45920"/>
            <a:ext cx="5166360" cy="340389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9808" y="5660136"/>
            <a:ext cx="5166360" cy="219456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5696712"/>
            <a:ext cx="49834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0B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业务目标验收页：节点基线、批量压测参数、当前轮次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6199632" y="155448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F6FAFF"/>
          </a:solidFill>
          <a:ln w="10160">
            <a:solidFill>
              <a:srgbClr val="3DDCFF">
                <a:alpha val="90000"/>
              </a:srgbClr>
            </a:solidFill>
            <a:prstDash val="solid"/>
          </a:ln>
        </p:spPr>
      </p:sp>
      <p:pic>
        <p:nvPicPr>
          <p:cNvPr id="13" name="Image 1" descr="docs/presentations/weekly-progress/screenshots/business-task-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645920"/>
            <a:ext cx="5166360" cy="340389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91072" y="5660136"/>
            <a:ext cx="5166360" cy="219456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82512" y="5696712"/>
            <a:ext cx="49834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0B24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工单详情抽屉：业务输入、原始 JSON、运行计划与目标口径</a:t>
            </a:r>
            <a:endParaRPr lang="en-US" sz="720" dirty="0"/>
          </a:p>
        </p:txBody>
      </p:sp>
      <p:sp>
        <p:nvSpPr>
          <p:cNvPr id="16" name="Text 12"/>
          <p:cNvSpPr/>
          <p:nvPr/>
        </p:nvSpPr>
        <p:spPr>
          <a:xfrm>
            <a:off x="777240" y="6144768"/>
            <a:ext cx="10378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汇报时可强调：每个验收样本都能从成功率统计追溯到具体工单和部署记录，后续外部路由回调 placements/GPU 后仍复用同一条证据链。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智联计算系统 · 两项验收指标进度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系统证据链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为什么能证明“不是静态造数”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每个达标样本都能回溯到工单、路由放置、容器实例、GPU 和业务指标。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2971800" cy="960120"/>
          </a:xfrm>
          <a:prstGeom prst="roundRect">
            <a:avLst>
              <a:gd name="adj" fmla="val 11429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2996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用户/测试输入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359152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自然语言或批量压测参数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30752" y="2304288"/>
            <a:ext cx="530352" cy="0"/>
          </a:xfrm>
          <a:prstGeom prst="line">
            <a:avLst/>
          </a:prstGeom>
          <a:noFill/>
          <a:ln w="17780">
            <a:solidFill>
              <a:srgbClr val="3DDC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34840" y="1828800"/>
            <a:ext cx="2971800" cy="960120"/>
          </a:xfrm>
          <a:prstGeom prst="roundRect">
            <a:avLst>
              <a:gd name="adj" fmla="val 11429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2996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DAG 生成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359152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-&gt; compute -&gt; sink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34072" y="2304288"/>
            <a:ext cx="530352" cy="0"/>
          </a:xfrm>
          <a:prstGeom prst="line">
            <a:avLst/>
          </a:prstGeom>
          <a:noFill/>
          <a:ln w="17780">
            <a:solidFill>
              <a:srgbClr val="3DDC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38160" y="1828800"/>
            <a:ext cx="2971800" cy="960120"/>
          </a:xfrm>
          <a:prstGeom prst="roundRect">
            <a:avLst>
              <a:gd name="adj" fmla="val 11429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02996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路由放置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66760" y="2359152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+ GPU 编号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" y="3429000"/>
            <a:ext cx="2971800" cy="960120"/>
          </a:xfrm>
          <a:prstGeom prst="roundRect">
            <a:avLst>
              <a:gd name="adj" fmla="val 11429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63016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容器部署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959352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Agent + Docker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30752" y="3904488"/>
            <a:ext cx="530352" cy="0"/>
          </a:xfrm>
          <a:prstGeom prst="line">
            <a:avLst/>
          </a:prstGeom>
          <a:noFill/>
          <a:ln w="17780">
            <a:solidFill>
              <a:srgbClr val="3DDCF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434840" y="3429000"/>
            <a:ext cx="2971800" cy="960120"/>
          </a:xfrm>
          <a:prstGeom prst="roundRect">
            <a:avLst>
              <a:gd name="adj" fmla="val 11429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63016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指标上报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3959352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effective_gflops / 结果 JSON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434072" y="3904488"/>
            <a:ext cx="530352" cy="0"/>
          </a:xfrm>
          <a:prstGeom prst="line">
            <a:avLst/>
          </a:prstGeom>
          <a:noFill/>
          <a:ln w="17780">
            <a:solidFill>
              <a:srgbClr val="3DDCF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138160" y="3429000"/>
            <a:ext cx="2971800" cy="960120"/>
          </a:xfrm>
          <a:prstGeom prst="roundRect">
            <a:avLst>
              <a:gd name="adj" fmla="val 11429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363016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成功率统计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66760" y="3959352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达标数 / 可评价任务数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076688" y="2816352"/>
            <a:ext cx="0" cy="548640"/>
          </a:xfrm>
          <a:prstGeom prst="line">
            <a:avLst/>
          </a:prstGeom>
          <a:noFill/>
          <a:ln w="17780">
            <a:solidFill>
              <a:srgbClr val="3DDCFF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68680" y="528523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验收页面与业务工单中心已经围绕这条证据链补齐展示：工单筛选、详情抽屉、结果 JSON、GPU 设备、执行后端、清理实例保留工单。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智联计算系统 · 两项验收指标进度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问题与计划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当前问题与预计解决时间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按组会要求，问题以表格方式呈现，并给出务实的后续时间预估。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2606040" cy="41148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810512"/>
            <a:ext cx="24597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0" y="1691640"/>
            <a:ext cx="3246120" cy="41148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810512"/>
            <a:ext cx="30998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949440" y="1691640"/>
            <a:ext cx="2487168" cy="41148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22592" y="1810512"/>
            <a:ext cx="23408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下一步动作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46920" y="1691640"/>
            <a:ext cx="1572768" cy="41148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20072" y="1810512"/>
            <a:ext cx="14264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预计时间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" y="2103120"/>
            <a:ext cx="2606040" cy="658368"/>
          </a:xfrm>
          <a:prstGeom prst="rect">
            <a:avLst/>
          </a:prstGeom>
          <a:solidFill>
            <a:srgbClr val="102C3D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212848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 30 样本留档口径需核对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474720" y="2103120"/>
            <a:ext cx="3246120" cy="658368"/>
          </a:xfrm>
          <a:prstGeom prst="rect">
            <a:avLst/>
          </a:prstGeom>
          <a:solidFill>
            <a:srgbClr val="102C3D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212848"/>
            <a:ext cx="306324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远端当前查询到 evaluated=15，需确认历史 30/30 记录与当前库表状态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949440" y="2103120"/>
            <a:ext cx="2487168" cy="658368"/>
          </a:xfrm>
          <a:prstGeom prst="rect">
            <a:avLst/>
          </a:prstGeom>
          <a:solidFill>
            <a:srgbClr val="102C3D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212848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重新跑或补齐正式 30 任务，并保存截图/API 报告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646920" y="2103120"/>
            <a:ext cx="1572768" cy="658368"/>
          </a:xfrm>
          <a:prstGeom prst="rect">
            <a:avLst/>
          </a:prstGeom>
          <a:solidFill>
            <a:srgbClr val="102C3D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38360" y="2212848"/>
            <a:ext cx="138988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本周内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85800" y="2761488"/>
            <a:ext cx="2606040" cy="658368"/>
          </a:xfrm>
          <a:prstGeom prst="rect">
            <a:avLst/>
          </a:prstGeom>
          <a:solidFill>
            <a:srgbClr val="12384B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871216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外部路由系统未正式联调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3474720" y="2761488"/>
            <a:ext cx="3246120" cy="658368"/>
          </a:xfrm>
          <a:prstGeom prst="rect">
            <a:avLst/>
          </a:prstGeom>
          <a:solidFill>
            <a:srgbClr val="12384B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871216"/>
            <a:ext cx="306324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目前验收页使用 mock 路由，只证明部署与评价闭环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949440" y="2761488"/>
            <a:ext cx="2487168" cy="658368"/>
          </a:xfrm>
          <a:prstGeom prst="rect">
            <a:avLst/>
          </a:prstGeom>
          <a:solidFill>
            <a:srgbClr val="12384B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2871216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DAG 输入、placements/GPU 回写和部署触发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9646920" y="2761488"/>
            <a:ext cx="1572768" cy="658368"/>
          </a:xfrm>
          <a:prstGeom prst="rect">
            <a:avLst/>
          </a:prstGeom>
          <a:solidFill>
            <a:srgbClr val="12384B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38360" y="2871216"/>
            <a:ext cx="138988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周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85800" y="3419856"/>
            <a:ext cx="2606040" cy="658368"/>
          </a:xfrm>
          <a:prstGeom prst="rect">
            <a:avLst/>
          </a:prstGeom>
          <a:solidFill>
            <a:srgbClr val="102C3D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529584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视频业务仅扩展演示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3474720" y="3419856"/>
            <a:ext cx="3246120" cy="658368"/>
          </a:xfrm>
          <a:prstGeom prst="rect">
            <a:avLst/>
          </a:prstGeom>
          <a:solidFill>
            <a:srgbClr val="102C3D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0" y="3529584"/>
            <a:ext cx="306324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和页面入口已具备，但未做四节点 30 任务正式压测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949440" y="3419856"/>
            <a:ext cx="2487168" cy="658368"/>
          </a:xfrm>
          <a:prstGeom prst="rect">
            <a:avLst/>
          </a:prstGeom>
          <a:solidFill>
            <a:srgbClr val="102C3D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3529584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构建镜像，复用成功率流程跑视频任务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9646920" y="3419856"/>
            <a:ext cx="1572768" cy="658368"/>
          </a:xfrm>
          <a:prstGeom prst="rect">
            <a:avLst/>
          </a:prstGeom>
          <a:solidFill>
            <a:srgbClr val="102C3D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38360" y="3529584"/>
            <a:ext cx="138988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周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685800" y="4078224"/>
            <a:ext cx="2606040" cy="658368"/>
          </a:xfrm>
          <a:prstGeom prst="rect">
            <a:avLst/>
          </a:prstGeom>
          <a:solidFill>
            <a:srgbClr val="12384B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4187952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测试方案材料需整理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3474720" y="4078224"/>
            <a:ext cx="3246120" cy="658368"/>
          </a:xfrm>
          <a:prstGeom prst="rect">
            <a:avLst/>
          </a:prstGeom>
          <a:solidFill>
            <a:srgbClr val="12384B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0" y="4187952"/>
            <a:ext cx="306324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系统功能已迭代，正式文档需同步截图、命令和指标口径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6949440" y="4078224"/>
            <a:ext cx="2487168" cy="658368"/>
          </a:xfrm>
          <a:prstGeom prst="rect">
            <a:avLst/>
          </a:prstGeom>
          <a:solidFill>
            <a:srgbClr val="12384B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4187952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形成测试方案 PDF/PPT 附录与演示流程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9646920" y="4078224"/>
            <a:ext cx="1572768" cy="658368"/>
          </a:xfrm>
          <a:prstGeom prst="rect">
            <a:avLst/>
          </a:prstGeom>
          <a:solidFill>
            <a:srgbClr val="12384B"/>
          </a:solidFill>
          <a:ln w="6350">
            <a:solidFill>
              <a:srgbClr val="244B5E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38360" y="4187952"/>
            <a:ext cx="138988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FD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本周内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智联计算系统 · 两项验收指标进度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914400"/>
            <a:ext cx="3566160" cy="3566160"/>
          </a:xfrm>
          <a:prstGeom prst="arc">
            <a:avLst/>
          </a:prstGeom>
          <a:noFill/>
          <a:ln w="15240">
            <a:solidFill>
              <a:srgbClr val="3DD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A4"/>
          </a:solidFill>
          <a:ln w="12700">
            <a:solidFill>
              <a:srgbClr val="27D6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下一步计划与汇报收口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目标是把“已跑通”收敛为“可复现、可截图、可专家复核”的正式材料。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5074920" cy="1335024"/>
          </a:xfrm>
          <a:prstGeom prst="roundRect">
            <a:avLst>
              <a:gd name="adj" fmla="val 8219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011680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27D6A4">
              <a:alpha val="92000"/>
            </a:srgbClr>
          </a:solidFill>
          <a:ln w="7620">
            <a:solidFill>
              <a:srgbClr val="27D6A4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0619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645920" y="20299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确认指标口径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意图解析报告、业务目标 30 样本统计、失败/缺失样本口径统一。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657600"/>
            <a:ext cx="5074920" cy="1335024"/>
          </a:xfrm>
          <a:prstGeom prst="roundRect">
            <a:avLst>
              <a:gd name="adj" fmla="val 8219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3886200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27D6A4">
              <a:alpha val="92000"/>
            </a:srgbClr>
          </a:solidFill>
          <a:ln w="7620">
            <a:solidFill>
              <a:srgbClr val="27D6A4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9364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645920" y="39044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补齐正式留档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4297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保存前端截图、API JSON、Batch 输入输出、benchmark_run_id。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783080"/>
            <a:ext cx="5074920" cy="1335024"/>
          </a:xfrm>
          <a:prstGeom prst="roundRect">
            <a:avLst>
              <a:gd name="adj" fmla="val 8219"/>
            </a:avLst>
          </a:prstGeom>
          <a:solidFill>
            <a:srgbClr val="102C3D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011680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3DDCFF">
              <a:alpha val="92000"/>
            </a:srgbClr>
          </a:solidFill>
          <a:ln w="7620">
            <a:solidFill>
              <a:srgbClr val="3DDCF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0619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040880" y="20299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外部路由联调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DAG 资源需求与 placements/GPU 回写，跑通部署触发。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3657600"/>
            <a:ext cx="5074920" cy="1335024"/>
          </a:xfrm>
          <a:prstGeom prst="roundRect">
            <a:avLst>
              <a:gd name="adj" fmla="val 8219"/>
            </a:avLst>
          </a:prstGeom>
          <a:solidFill>
            <a:srgbClr val="12384B"/>
          </a:solidFill>
          <a:ln w="10160">
            <a:solidFill>
              <a:srgbClr val="244B5E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886200"/>
            <a:ext cx="502920" cy="274320"/>
          </a:xfrm>
          <a:prstGeom prst="roundRect">
            <a:avLst>
              <a:gd name="adj" fmla="val 26667"/>
            </a:avLst>
          </a:prstGeom>
          <a:solidFill>
            <a:srgbClr val="3DDCFF">
              <a:alpha val="92000"/>
            </a:srgbClr>
          </a:solidFill>
          <a:ln w="7620">
            <a:solidFill>
              <a:srgbClr val="3DDCFF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9364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1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040880" y="39044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扩展演示准备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4297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9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 AI 推理业务作为多模态扩展，视时间做 30 任务压测。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553212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D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组会表达建议：先讲结论，再讲两个指标的定义和证据，最后主动说明剩余问题与时间表。控制在 8-10 分钟内。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6446520"/>
            <a:ext cx="10744200" cy="0"/>
          </a:xfrm>
          <a:prstGeom prst="line">
            <a:avLst/>
          </a:prstGeom>
          <a:noFill/>
          <a:ln w="10160">
            <a:solidFill>
              <a:srgbClr val="244B5E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智联计算系统 · 两项验收指标进度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1292840" y="641908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12384B"/>
          </a:solidFill>
          <a:ln w="12700">
            <a:solidFill>
              <a:srgbClr val="244B5E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周五组会：两项指标测试进度汇报</dc:title>
  <dc:subject>两项验收指标进度汇报</dc:subject>
  <dc:creator>manage-deploy</dc:creator>
  <cp:lastModifiedBy>manage-deploy</cp:lastModifiedBy>
  <cp:revision>1</cp:revision>
  <dcterms:created xsi:type="dcterms:W3CDTF">2026-06-04T15:03:56Z</dcterms:created>
  <dcterms:modified xsi:type="dcterms:W3CDTF">2026-06-04T15:03:56Z</dcterms:modified>
</cp:coreProperties>
</file>