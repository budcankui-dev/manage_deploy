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7"/>
          </a:solidFill>
          <a:ln w="12700">
            <a:solidFill>
              <a:srgbClr val="07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D6A4"/>
          </a:solidFill>
          <a:ln w="12700">
            <a:solidFill>
              <a:srgbClr val="27D6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-1143000"/>
            <a:ext cx="4389120" cy="4389120"/>
          </a:xfrm>
          <a:prstGeom prst="arc">
            <a:avLst/>
          </a:prstGeom>
          <a:noFill/>
          <a:ln w="17780">
            <a:solidFill>
              <a:srgbClr val="3DDCFF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078992"/>
            <a:ext cx="10881360" cy="4480560"/>
          </a:xfrm>
          <a:prstGeom prst="roundRect">
            <a:avLst>
              <a:gd name="adj" fmla="val 3673"/>
            </a:avLst>
          </a:prstGeom>
          <a:solidFill>
            <a:srgbClr val="102C3D">
              <a:alpha val="95000"/>
            </a:srgbClr>
          </a:solidFill>
          <a:ln w="12700">
            <a:solidFill>
              <a:srgbClr val="244B5E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417320"/>
            <a:ext cx="1627632" cy="274320"/>
          </a:xfrm>
          <a:prstGeom prst="roundRect">
            <a:avLst>
              <a:gd name="adj" fmla="val 26667"/>
            </a:avLst>
          </a:prstGeom>
          <a:solidFill>
            <a:srgbClr val="3DDCFF">
              <a:alpha val="92000"/>
            </a:srgbClr>
          </a:solidFill>
          <a:ln w="7620">
            <a:solidFill>
              <a:srgbClr val="3DDCFF">
                <a:alpha val="8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467612"/>
            <a:ext cx="1627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ROUTING INTEGRATION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914400" y="18745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外部路由系统对接讲解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32688" y="2615184"/>
            <a:ext cx="8961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D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扫表领取工单 → 计算 placements → 回写部署位置 → 消费资源释放事件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50976" y="309067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目标：让路由同学只看这一套流程和接口就能完成联调。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58200" y="1536192"/>
            <a:ext cx="2487168" cy="1143000"/>
          </a:xfrm>
          <a:prstGeom prst="roundRect">
            <a:avLst>
              <a:gd name="adj" fmla="val 9600"/>
            </a:avLst>
          </a:prstGeom>
          <a:solidFill>
            <a:srgbClr val="12384B"/>
          </a:solidFill>
          <a:ln w="10160">
            <a:solidFill>
              <a:srgbClr val="244B5E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59368" y="1700784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 ID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659368" y="1929384"/>
            <a:ext cx="20848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62E2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order_id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8659368" y="2377440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跨系统唯一主键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8458200" y="2944368"/>
            <a:ext cx="2487168" cy="1143000"/>
          </a:xfrm>
          <a:prstGeom prst="roundRect">
            <a:avLst>
              <a:gd name="adj" fmla="val 9600"/>
            </a:avLst>
          </a:prstGeom>
          <a:solidFill>
            <a:srgbClr val="12384B"/>
          </a:solidFill>
          <a:ln w="10160">
            <a:solidFill>
              <a:srgbClr val="244B5E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59368" y="3108960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规则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659368" y="3337560"/>
            <a:ext cx="20848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1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独占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659368" y="3785616"/>
            <a:ext cx="2084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GPU 同时一个任务</a:t>
            </a:r>
            <a:endParaRPr lang="en-US" sz="760" dirty="0"/>
          </a:p>
        </p:txBody>
      </p:sp>
      <p:sp>
        <p:nvSpPr>
          <p:cNvPr id="19" name="Text 17"/>
          <p:cNvSpPr/>
          <p:nvPr/>
        </p:nvSpPr>
        <p:spPr>
          <a:xfrm>
            <a:off x="932688" y="48280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manage-deploy / 2026-06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7"/>
          </a:solidFill>
          <a:ln w="12700">
            <a:solidFill>
              <a:srgbClr val="07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46920" y="-914400"/>
            <a:ext cx="3566160" cy="3566160"/>
          </a:xfrm>
          <a:prstGeom prst="arc">
            <a:avLst/>
          </a:prstGeom>
          <a:noFill/>
          <a:ln w="15240">
            <a:solidFill>
              <a:srgbClr val="3DDC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645920" y="5303520"/>
            <a:ext cx="3291840" cy="3291840"/>
          </a:xfrm>
          <a:prstGeom prst="arc">
            <a:avLst/>
          </a:prstGeom>
          <a:noFill/>
          <a:ln w="12700">
            <a:solidFill>
              <a:srgbClr val="27D6A4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D6A4"/>
          </a:solidFill>
          <a:ln w="12700">
            <a:solidFill>
              <a:srgbClr val="27D6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286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DD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先讲边界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6446520"/>
            <a:ext cx="10744200" cy="0"/>
          </a:xfrm>
          <a:prstGeom prst="line">
            <a:avLst/>
          </a:prstGeom>
          <a:noFill/>
          <a:ln w="10160">
            <a:solidFill>
              <a:srgbClr val="244B5E">
                <a:alpha val="7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外部路由系统对接说明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292840" y="6419088"/>
            <a:ext cx="411480" cy="292608"/>
          </a:xfrm>
          <a:prstGeom prst="roundRect">
            <a:avLst>
              <a:gd name="adj" fmla="val 25000"/>
            </a:avLst>
          </a:prstGeom>
          <a:solidFill>
            <a:srgbClr val="12384B"/>
          </a:solidFill>
          <a:ln w="12700">
            <a:solidFill>
              <a:srgbClr val="244B5E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92840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94360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职责边界：双方各做自己最擅长的事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1792" y="114300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平台不做路由算法；路由系统不直接部署容器。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13232" y="1874520"/>
            <a:ext cx="3246120" cy="3246120"/>
          </a:xfrm>
          <a:prstGeom prst="roundRect">
            <a:avLst>
              <a:gd name="adj" fmla="val 3380"/>
            </a:avLst>
          </a:prstGeom>
          <a:solidFill>
            <a:srgbClr val="12384B"/>
          </a:solidFill>
          <a:ln w="10160">
            <a:solidFill>
              <a:srgbClr val="3DDCFF">
                <a:alpha val="9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9264" y="2121408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3DDCFF">
              <a:alpha val="92000"/>
            </a:srgbClr>
          </a:solidFill>
          <a:ln w="7620">
            <a:solidFill>
              <a:srgbClr val="3DDCFF">
                <a:alpha val="8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9264" y="2171700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 Task Manager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097280" y="2670048"/>
            <a:ext cx="2514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创建工单和 DAG</a:t>
            </a:r>
            <a:endParaRPr lang="en-US" sz="1100" dirty="0"/>
          </a:p>
          <a:p>
            <a:r>
              <a:rPr lang="en-US" sz="110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接收 placements</a:t>
            </a:r>
            <a:endParaRPr lang="en-US" sz="1100" dirty="0"/>
          </a:p>
          <a:p>
            <a:r>
              <a:rPr lang="en-US" sz="110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启动/停止容器</a:t>
            </a:r>
            <a:endParaRPr lang="en-US" sz="1100" dirty="0"/>
          </a:p>
          <a:p>
            <a:r>
              <a:rPr lang="en-US" sz="110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采集业务证据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15968" y="1874520"/>
            <a:ext cx="3246120" cy="3246120"/>
          </a:xfrm>
          <a:prstGeom prst="roundRect">
            <a:avLst>
              <a:gd name="adj" fmla="val 3380"/>
            </a:avLst>
          </a:prstGeom>
          <a:solidFill>
            <a:srgbClr val="12384B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0" y="2121408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62E29A">
              <a:alpha val="92000"/>
            </a:srgbClr>
          </a:solidFill>
          <a:ln w="7620">
            <a:solidFill>
              <a:srgbClr val="62E29A">
                <a:alpha val="8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0" y="2171700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外部路由系统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700016" y="2670048"/>
            <a:ext cx="2514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扫描待路由工单</a:t>
            </a:r>
            <a:endParaRPr lang="en-US" sz="1100" dirty="0"/>
          </a:p>
          <a:p>
            <a:r>
              <a:rPr lang="en-US" sz="110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 compute 节点</a:t>
            </a:r>
            <a:endParaRPr lang="en-US" sz="1100" dirty="0"/>
          </a:p>
          <a:p>
            <a:r>
              <a:rPr lang="en-US" sz="110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 GPU 编号</a:t>
            </a:r>
            <a:endParaRPr lang="en-US" sz="1100" dirty="0"/>
          </a:p>
          <a:p>
            <a:r>
              <a:rPr lang="en-US" sz="110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维护资源池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918704" y="1874520"/>
            <a:ext cx="3246120" cy="3246120"/>
          </a:xfrm>
          <a:prstGeom prst="roundRect">
            <a:avLst>
              <a:gd name="adj" fmla="val 3380"/>
            </a:avLst>
          </a:prstGeom>
          <a:solidFill>
            <a:srgbClr val="12384B"/>
          </a:solidFill>
          <a:ln w="10160">
            <a:solidFill>
              <a:srgbClr val="FFD166">
                <a:alpha val="9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74736" y="2121408"/>
            <a:ext cx="1600200" cy="274320"/>
          </a:xfrm>
          <a:prstGeom prst="roundRect">
            <a:avLst>
              <a:gd name="adj" fmla="val 26667"/>
            </a:avLst>
          </a:prstGeom>
          <a:solidFill>
            <a:srgbClr val="FFD166">
              <a:alpha val="92000"/>
            </a:srgbClr>
          </a:solidFill>
          <a:ln w="7620">
            <a:solidFill>
              <a:srgbClr val="FFD166">
                <a:alpha val="8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74736" y="2171700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 Agent / Worker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8302752" y="2670048"/>
            <a:ext cx="2514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按平台指令运行容器</a:t>
            </a:r>
            <a:endParaRPr lang="en-US" sz="1100" dirty="0"/>
          </a:p>
          <a:p>
            <a:r>
              <a:rPr lang="en-US" sz="110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执行业务数据流</a:t>
            </a:r>
            <a:endParaRPr lang="en-US" sz="1100" dirty="0"/>
          </a:p>
          <a:p>
            <a:r>
              <a:rPr lang="en-US" sz="110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上报结果文件</a:t>
            </a:r>
            <a:endParaRPr lang="en-US" sz="1100" dirty="0"/>
          </a:p>
          <a:p>
            <a:r>
              <a:rPr lang="en-US" sz="110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不参与选路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968496" y="3493008"/>
            <a:ext cx="310896" cy="0"/>
          </a:xfrm>
          <a:prstGeom prst="line">
            <a:avLst/>
          </a:prstGeom>
          <a:noFill/>
          <a:ln w="17145">
            <a:solidFill>
              <a:srgbClr val="3DDCF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571232" y="3493008"/>
            <a:ext cx="310896" cy="0"/>
          </a:xfrm>
          <a:prstGeom prst="line">
            <a:avLst/>
          </a:prstGeom>
          <a:noFill/>
          <a:ln w="17145">
            <a:solidFill>
              <a:srgbClr val="62E29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097280" y="5650992"/>
            <a:ext cx="10012680" cy="438912"/>
          </a:xfrm>
          <a:prstGeom prst="roundRect">
            <a:avLst>
              <a:gd name="adj" fmla="val 20833"/>
            </a:avLst>
          </a:prstGeom>
          <a:solidFill>
            <a:srgbClr val="173F55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70432" y="5779008"/>
            <a:ext cx="9866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最小联调目标：3 个工单跑通；演示验收目标：30 个工单按 GPU 槽位分批完成，成功率不低于 90%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7"/>
          </a:solidFill>
          <a:ln w="12700">
            <a:solidFill>
              <a:srgbClr val="07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46920" y="-914400"/>
            <a:ext cx="3566160" cy="3566160"/>
          </a:xfrm>
          <a:prstGeom prst="arc">
            <a:avLst/>
          </a:prstGeom>
          <a:noFill/>
          <a:ln w="15240">
            <a:solidFill>
              <a:srgbClr val="3DDC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645920" y="5303520"/>
            <a:ext cx="3291840" cy="3291840"/>
          </a:xfrm>
          <a:prstGeom prst="arc">
            <a:avLst/>
          </a:prstGeom>
          <a:noFill/>
          <a:ln w="12700">
            <a:solidFill>
              <a:srgbClr val="27D6A4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D6A4"/>
          </a:solidFill>
          <a:ln w="12700">
            <a:solidFill>
              <a:srgbClr val="27D6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286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DD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统一对象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6446520"/>
            <a:ext cx="10744200" cy="0"/>
          </a:xfrm>
          <a:prstGeom prst="line">
            <a:avLst/>
          </a:prstGeom>
          <a:noFill/>
          <a:ln w="10160">
            <a:solidFill>
              <a:srgbClr val="244B5E">
                <a:alpha val="7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外部路由系统对接说明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292840" y="6419088"/>
            <a:ext cx="411480" cy="292608"/>
          </a:xfrm>
          <a:prstGeom prst="roundRect">
            <a:avLst>
              <a:gd name="adj" fmla="val 25000"/>
            </a:avLst>
          </a:prstGeom>
          <a:solidFill>
            <a:srgbClr val="12384B"/>
          </a:solidFill>
          <a:ln w="12700">
            <a:solidFill>
              <a:srgbClr val="244B5E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92840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94360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跨系统只认一个业务主 ID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1792" y="114300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排查问题时不要在对话 ID、订单 ID、DAG job_id 之间来回猜。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4672" y="214884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12384B"/>
          </a:solidFill>
          <a:ln w="10160">
            <a:solidFill>
              <a:srgbClr val="3DDCFF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238658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conversation_id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2468880" y="2487168"/>
            <a:ext cx="438912" cy="0"/>
          </a:xfrm>
          <a:prstGeom prst="line">
            <a:avLst/>
          </a:prstGeom>
          <a:noFill/>
          <a:ln w="13970">
            <a:solidFill>
              <a:srgbClr val="8EA8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017520" y="214884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12384B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90672" y="238658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order_id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4681728" y="2487168"/>
            <a:ext cx="438912" cy="0"/>
          </a:xfrm>
          <a:prstGeom prst="line">
            <a:avLst/>
          </a:prstGeom>
          <a:noFill/>
          <a:ln w="13970">
            <a:solidFill>
              <a:srgbClr val="8EA8B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230368" y="214884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12384B"/>
          </a:solidFill>
          <a:ln w="10160">
            <a:solidFill>
              <a:srgbClr val="FFD166">
                <a:alpha val="9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0" y="238658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DAG job_id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6894576" y="2487168"/>
            <a:ext cx="438912" cy="0"/>
          </a:xfrm>
          <a:prstGeom prst="line">
            <a:avLst/>
          </a:prstGeom>
          <a:noFill/>
          <a:ln w="13970">
            <a:solidFill>
              <a:srgbClr val="8EA8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443216" y="214884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12384B"/>
          </a:solidFill>
          <a:ln w="10160">
            <a:solidFill>
              <a:srgbClr val="27D6A4">
                <a:alpha val="9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6368" y="238658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routing result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9107424" y="2487168"/>
            <a:ext cx="438912" cy="0"/>
          </a:xfrm>
          <a:prstGeom prst="line">
            <a:avLst/>
          </a:prstGeom>
          <a:noFill/>
          <a:ln w="13970">
            <a:solidFill>
              <a:srgbClr val="8EA8B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656064" y="214884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12384B"/>
          </a:solidFill>
          <a:ln w="10160">
            <a:solidFill>
              <a:srgbClr val="F59E0B">
                <a:alpha val="9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29216" y="238658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resource release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868680" y="3794760"/>
            <a:ext cx="10332720" cy="1600200"/>
          </a:xfrm>
          <a:prstGeom prst="roundRect">
            <a:avLst>
              <a:gd name="adj" fmla="val 6857"/>
            </a:avLst>
          </a:prstGeom>
          <a:solidFill>
            <a:srgbClr val="102C3D"/>
          </a:solidFill>
          <a:ln w="10160">
            <a:solidFill>
              <a:srgbClr val="244B5E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43000" y="404164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统一约定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43000" y="4443984"/>
            <a:ext cx="9509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3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task_orders.id = routing_input_dag.order_id = routing_input_dag.job_id</a:t>
            </a:r>
            <a:endParaRPr lang="en-US" sz="1030" dirty="0"/>
          </a:p>
          <a:p>
            <a:r>
              <a:rPr lang="en-US" sz="103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常规业务默认 source / compute / sink；两节点业务可只保留 source -&gt; sink 或 source -&gt; compute</a:t>
            </a:r>
            <a:endParaRPr lang="en-US" sz="1030" dirty="0"/>
          </a:p>
          <a:p>
            <a:r>
              <a:rPr lang="en-US" sz="103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用户输入的源节点和目的节点写 fixed_node_name，不混入 node_id</a:t>
            </a:r>
            <a:endParaRPr lang="en-US" sz="1030" dirty="0"/>
          </a:p>
          <a:p>
            <a:r>
              <a:rPr lang="en-US" sz="103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路由只回写工作节点 placement；平台根据 fixed_node_name 自动补齐固定端点</a:t>
            </a:r>
            <a:endParaRPr lang="en-US" sz="10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7"/>
          </a:solidFill>
          <a:ln w="12700">
            <a:solidFill>
              <a:srgbClr val="07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46920" y="-914400"/>
            <a:ext cx="3566160" cy="3566160"/>
          </a:xfrm>
          <a:prstGeom prst="arc">
            <a:avLst/>
          </a:prstGeom>
          <a:noFill/>
          <a:ln w="15240">
            <a:solidFill>
              <a:srgbClr val="3DDC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645920" y="5303520"/>
            <a:ext cx="3291840" cy="3291840"/>
          </a:xfrm>
          <a:prstGeom prst="arc">
            <a:avLst/>
          </a:prstGeom>
          <a:noFill/>
          <a:ln w="12700">
            <a:solidFill>
              <a:srgbClr val="27D6A4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D6A4"/>
          </a:solidFill>
          <a:ln w="12700">
            <a:solidFill>
              <a:srgbClr val="27D6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286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DD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路由状态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6446520"/>
            <a:ext cx="10744200" cy="0"/>
          </a:xfrm>
          <a:prstGeom prst="line">
            <a:avLst/>
          </a:prstGeom>
          <a:noFill/>
          <a:ln w="10160">
            <a:solidFill>
              <a:srgbClr val="244B5E">
                <a:alpha val="7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外部路由系统对接说明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292840" y="6419088"/>
            <a:ext cx="411480" cy="292608"/>
          </a:xfrm>
          <a:prstGeom prst="roundRect">
            <a:avLst>
              <a:gd name="adj" fmla="val 25000"/>
            </a:avLst>
          </a:prstGeom>
          <a:solidFill>
            <a:srgbClr val="12384B"/>
          </a:solidFill>
          <a:ln w="12700">
            <a:solidFill>
              <a:srgbClr val="244B5E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92840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94360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路由状态流：小系统也要不丢任务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1792" y="114300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扫表可以简单，但 claim / requeue / fail / result 需要明确。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68680" y="2057400"/>
            <a:ext cx="1691640" cy="658368"/>
          </a:xfrm>
          <a:prstGeom prst="roundRect">
            <a:avLst>
              <a:gd name="adj" fmla="val 13889"/>
            </a:avLst>
          </a:prstGeom>
          <a:solidFill>
            <a:srgbClr val="12384B"/>
          </a:solidFill>
          <a:ln w="10160">
            <a:solidFill>
              <a:srgbClr val="FFD166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1832" y="2295144"/>
            <a:ext cx="1545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55848" y="2057400"/>
            <a:ext cx="1691640" cy="658368"/>
          </a:xfrm>
          <a:prstGeom prst="roundRect">
            <a:avLst>
              <a:gd name="adj" fmla="val 13889"/>
            </a:avLst>
          </a:prstGeom>
          <a:solidFill>
            <a:srgbClr val="12384B"/>
          </a:solidFill>
          <a:ln w="10160">
            <a:solidFill>
              <a:srgbClr val="3DDCFF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2295144"/>
            <a:ext cx="1545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computing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43016" y="2057400"/>
            <a:ext cx="1691640" cy="658368"/>
          </a:xfrm>
          <a:prstGeom prst="roundRect">
            <a:avLst>
              <a:gd name="adj" fmla="val 13889"/>
            </a:avLst>
          </a:prstGeom>
          <a:solidFill>
            <a:srgbClr val="12384B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6168" y="2295144"/>
            <a:ext cx="1545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completed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330184" y="2057400"/>
            <a:ext cx="1691640" cy="658368"/>
          </a:xfrm>
          <a:prstGeom prst="roundRect">
            <a:avLst>
              <a:gd name="adj" fmla="val 13889"/>
            </a:avLst>
          </a:prstGeom>
          <a:solidFill>
            <a:srgbClr val="12384B"/>
          </a:solidFill>
          <a:ln w="10160">
            <a:solidFill>
              <a:srgbClr val="FF6B6B">
                <a:alpha val="9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03336" y="2295144"/>
            <a:ext cx="1545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failed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96896" y="2395728"/>
            <a:ext cx="713232" cy="0"/>
          </a:xfrm>
          <a:prstGeom prst="line">
            <a:avLst/>
          </a:prstGeom>
          <a:noFill/>
          <a:ln w="17145">
            <a:solidFill>
              <a:srgbClr val="3DDCF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074920" y="2395728"/>
            <a:ext cx="722376" cy="0"/>
          </a:xfrm>
          <a:prstGeom prst="line">
            <a:avLst/>
          </a:prstGeom>
          <a:noFill/>
          <a:ln w="17145">
            <a:solidFill>
              <a:srgbClr val="62E2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074920" y="2724912"/>
            <a:ext cx="3172968" cy="0"/>
          </a:xfrm>
          <a:prstGeom prst="line">
            <a:avLst/>
          </a:prstGeom>
          <a:noFill/>
          <a:ln w="17145">
            <a:solidFill>
              <a:srgbClr val="FF6B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251960" y="2798064"/>
            <a:ext cx="-2377440" cy="0"/>
          </a:xfrm>
          <a:prstGeom prst="line">
            <a:avLst/>
          </a:prstGeom>
          <a:noFill/>
          <a:ln w="13335">
            <a:solidFill>
              <a:srgbClr val="FFD166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770632" y="1993392"/>
            <a:ext cx="658368" cy="274320"/>
          </a:xfrm>
          <a:prstGeom prst="roundRect">
            <a:avLst>
              <a:gd name="adj" fmla="val 26667"/>
            </a:avLst>
          </a:prstGeom>
          <a:solidFill>
            <a:srgbClr val="3DDCFF">
              <a:alpha val="92000"/>
            </a:srgbClr>
          </a:solidFill>
          <a:ln w="7620">
            <a:solidFill>
              <a:srgbClr val="3DDCFF">
                <a:alpha val="8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70632" y="204368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claim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285232" y="1993392"/>
            <a:ext cx="713232" cy="274320"/>
          </a:xfrm>
          <a:prstGeom prst="roundRect">
            <a:avLst>
              <a:gd name="adj" fmla="val 26667"/>
            </a:avLst>
          </a:prstGeom>
          <a:solidFill>
            <a:srgbClr val="62E29A">
              <a:alpha val="92000"/>
            </a:srgbClr>
          </a:solidFill>
          <a:ln w="7620">
            <a:solidFill>
              <a:srgbClr val="62E29A">
                <a:alpha val="8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85232" y="204368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528816" y="2788920"/>
            <a:ext cx="566928" cy="274320"/>
          </a:xfrm>
          <a:prstGeom prst="roundRect">
            <a:avLst>
              <a:gd name="adj" fmla="val 26667"/>
            </a:avLst>
          </a:prstGeom>
          <a:solidFill>
            <a:srgbClr val="FF6B6B">
              <a:alpha val="92000"/>
            </a:srgbClr>
          </a:solidFill>
          <a:ln w="7620">
            <a:solidFill>
              <a:srgbClr val="FF6B6B">
                <a:alpha val="8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28816" y="283921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fail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2651760" y="2852928"/>
            <a:ext cx="822960" cy="274320"/>
          </a:xfrm>
          <a:prstGeom prst="roundRect">
            <a:avLst>
              <a:gd name="adj" fmla="val 26667"/>
            </a:avLst>
          </a:prstGeom>
          <a:solidFill>
            <a:srgbClr val="FFD166">
              <a:alpha val="92000"/>
            </a:srgbClr>
          </a:solidFill>
          <a:ln w="7620">
            <a:solidFill>
              <a:srgbClr val="FFD166">
                <a:alpha val="85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51760" y="290322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requeue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868680" y="4160520"/>
            <a:ext cx="3154680" cy="1051560"/>
          </a:xfrm>
          <a:prstGeom prst="roundRect">
            <a:avLst>
              <a:gd name="adj" fmla="val 10435"/>
            </a:avLst>
          </a:prstGeom>
          <a:solidFill>
            <a:srgbClr val="12384B"/>
          </a:solidFill>
          <a:ln w="10160">
            <a:solidFill>
              <a:srgbClr val="3DDCFF">
                <a:alpha val="9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78992" y="4370832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3DDCFF">
              <a:alpha val="92000"/>
            </a:srgbClr>
          </a:solidFill>
          <a:ln w="7620">
            <a:solidFill>
              <a:srgbClr val="3DDCFF">
                <a:alpha val="85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8992" y="442112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路由系统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078992" y="473659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pending → computing 必须原子抢占；资源暂不足用 requeue。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4526280" y="4160520"/>
            <a:ext cx="3154680" cy="1051560"/>
          </a:xfrm>
          <a:prstGeom prst="roundRect">
            <a:avLst>
              <a:gd name="adj" fmla="val 10435"/>
            </a:avLst>
          </a:prstGeom>
          <a:solidFill>
            <a:srgbClr val="12384B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36592" y="4370832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62E29A">
              <a:alpha val="92000"/>
            </a:srgbClr>
          </a:solidFill>
          <a:ln w="7620">
            <a:solidFill>
              <a:srgbClr val="62E29A">
                <a:alpha val="8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36592" y="442112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平台兜底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736592" y="473659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接收 result 时校验 GPU 冲突；已占用则返回 409。</a:t>
            </a: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8183880" y="4160520"/>
            <a:ext cx="3154680" cy="1051560"/>
          </a:xfrm>
          <a:prstGeom prst="roundRect">
            <a:avLst>
              <a:gd name="adj" fmla="val 10435"/>
            </a:avLst>
          </a:prstGeom>
          <a:solidFill>
            <a:srgbClr val="12384B"/>
          </a:solidFill>
          <a:ln w="10160">
            <a:solidFill>
              <a:srgbClr val="FF6B6B">
                <a:alpha val="9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394192" y="4370832"/>
            <a:ext cx="914400" cy="274320"/>
          </a:xfrm>
          <a:prstGeom prst="roundRect">
            <a:avLst>
              <a:gd name="adj" fmla="val 26667"/>
            </a:avLst>
          </a:prstGeom>
          <a:solidFill>
            <a:srgbClr val="FF6B6B">
              <a:alpha val="92000"/>
            </a:srgbClr>
          </a:solidFill>
          <a:ln w="7620">
            <a:solidFill>
              <a:srgbClr val="FF6B6B">
                <a:alpha val="85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94192" y="442112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异常处理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8394192" y="473659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确定无法路由才 fail；超时 computing 可恢复 pending。</a:t>
            </a:r>
            <a:endParaRPr lang="en-US" sz="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7"/>
          </a:solidFill>
          <a:ln w="12700">
            <a:solidFill>
              <a:srgbClr val="07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46920" y="-914400"/>
            <a:ext cx="3566160" cy="3566160"/>
          </a:xfrm>
          <a:prstGeom prst="arc">
            <a:avLst/>
          </a:prstGeom>
          <a:noFill/>
          <a:ln w="15240">
            <a:solidFill>
              <a:srgbClr val="3DDC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645920" y="5303520"/>
            <a:ext cx="3291840" cy="3291840"/>
          </a:xfrm>
          <a:prstGeom prst="arc">
            <a:avLst/>
          </a:prstGeom>
          <a:noFill/>
          <a:ln w="12700">
            <a:solidFill>
              <a:srgbClr val="27D6A4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D6A4"/>
          </a:solidFill>
          <a:ln w="12700">
            <a:solidFill>
              <a:srgbClr val="27D6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286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DD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计算路由交互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6446520"/>
            <a:ext cx="10744200" cy="0"/>
          </a:xfrm>
          <a:prstGeom prst="line">
            <a:avLst/>
          </a:prstGeom>
          <a:noFill/>
          <a:ln w="10160">
            <a:solidFill>
              <a:srgbClr val="244B5E">
                <a:alpha val="7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外部路由系统对接说明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292840" y="6419088"/>
            <a:ext cx="411480" cy="292608"/>
          </a:xfrm>
          <a:prstGeom prst="roundRect">
            <a:avLst>
              <a:gd name="adj" fmla="val 25000"/>
            </a:avLst>
          </a:prstGeom>
          <a:solidFill>
            <a:srgbClr val="12384B"/>
          </a:solidFill>
          <a:ln w="12700">
            <a:solidFill>
              <a:srgbClr val="244B5E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92840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94360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一次工单从提交到部署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1792" y="114300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数据库用于发现任务；HTTP 用于状态变更、结果回写和审计。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58368" y="1508760"/>
            <a:ext cx="10881360" cy="932688"/>
          </a:xfrm>
          <a:prstGeom prst="roundRect">
            <a:avLst>
              <a:gd name="adj" fmla="val 11765"/>
            </a:avLst>
          </a:prstGeom>
          <a:solidFill>
            <a:srgbClr val="102C3D">
              <a:alpha val="90000"/>
            </a:srgbClr>
          </a:solidFill>
          <a:ln w="10160">
            <a:solidFill>
              <a:srgbClr val="3DDCFF">
                <a:alpha val="9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77824" y="1828800"/>
            <a:ext cx="987552" cy="274320"/>
          </a:xfrm>
          <a:prstGeom prst="roundRect">
            <a:avLst>
              <a:gd name="adj" fmla="val 26667"/>
            </a:avLst>
          </a:prstGeom>
          <a:solidFill>
            <a:srgbClr val="3DDCFF">
              <a:alpha val="92000"/>
            </a:srgbClr>
          </a:solidFill>
          <a:ln w="7620">
            <a:solidFill>
              <a:srgbClr val="3DDCFF">
                <a:alpha val="8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" y="1879092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658368" y="3035808"/>
            <a:ext cx="10881360" cy="932688"/>
          </a:xfrm>
          <a:prstGeom prst="roundRect">
            <a:avLst>
              <a:gd name="adj" fmla="val 11765"/>
            </a:avLst>
          </a:prstGeom>
          <a:solidFill>
            <a:srgbClr val="102C3D">
              <a:alpha val="90000"/>
            </a:srgbClr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7824" y="3355848"/>
            <a:ext cx="987552" cy="274320"/>
          </a:xfrm>
          <a:prstGeom prst="roundRect">
            <a:avLst>
              <a:gd name="adj" fmla="val 26667"/>
            </a:avLst>
          </a:prstGeom>
          <a:solidFill>
            <a:srgbClr val="62E29A">
              <a:alpha val="92000"/>
            </a:srgbClr>
          </a:solidFill>
          <a:ln w="7620">
            <a:solidFill>
              <a:srgbClr val="62E29A">
                <a:alpha val="8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" y="3406140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路由系统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58368" y="4553712"/>
            <a:ext cx="10881360" cy="932688"/>
          </a:xfrm>
          <a:prstGeom prst="roundRect">
            <a:avLst>
              <a:gd name="adj" fmla="val 11765"/>
            </a:avLst>
          </a:prstGeom>
          <a:solidFill>
            <a:srgbClr val="102C3D">
              <a:alpha val="90000"/>
            </a:srgbClr>
          </a:solidFill>
          <a:ln w="10160">
            <a:solidFill>
              <a:srgbClr val="FFD166">
                <a:alpha val="9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77824" y="4873752"/>
            <a:ext cx="987552" cy="274320"/>
          </a:xfrm>
          <a:prstGeom prst="roundRect">
            <a:avLst>
              <a:gd name="adj" fmla="val 26667"/>
            </a:avLst>
          </a:prstGeom>
          <a:solidFill>
            <a:srgbClr val="FFD166">
              <a:alpha val="92000"/>
            </a:srgbClr>
          </a:solidFill>
          <a:ln w="7620">
            <a:solidFill>
              <a:srgbClr val="FFD166">
                <a:alpha val="8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7824" y="4924044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业务节点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2057400" y="1700784"/>
            <a:ext cx="1051560" cy="512064"/>
          </a:xfrm>
          <a:prstGeom prst="roundRect">
            <a:avLst>
              <a:gd name="adj" fmla="val 17857"/>
            </a:avLst>
          </a:prstGeom>
          <a:solidFill>
            <a:srgbClr val="12384B"/>
          </a:solidFill>
          <a:ln w="10160">
            <a:solidFill>
              <a:srgbClr val="3DDCFF">
                <a:alpha val="9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30552" y="186537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创建工单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DAG 入库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3611880" y="3236976"/>
            <a:ext cx="1051560" cy="512064"/>
          </a:xfrm>
          <a:prstGeom prst="roundRect">
            <a:avLst>
              <a:gd name="adj" fmla="val 17857"/>
            </a:avLst>
          </a:prstGeom>
          <a:solidFill>
            <a:srgbClr val="12384B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85032" y="3401568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pending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4828032" y="3236976"/>
            <a:ext cx="1051560" cy="512064"/>
          </a:xfrm>
          <a:prstGeom prst="roundRect">
            <a:avLst>
              <a:gd name="adj" fmla="val 17857"/>
            </a:avLst>
          </a:prstGeom>
          <a:solidFill>
            <a:srgbClr val="12384B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01184" y="3401568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claim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6035040" y="3236976"/>
            <a:ext cx="1051560" cy="512064"/>
          </a:xfrm>
          <a:prstGeom prst="roundRect">
            <a:avLst>
              <a:gd name="adj" fmla="val 17857"/>
            </a:avLst>
          </a:prstGeom>
          <a:solidFill>
            <a:srgbClr val="12384B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08192" y="3401568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placements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7644384" y="3236976"/>
            <a:ext cx="1051560" cy="512064"/>
          </a:xfrm>
          <a:prstGeom prst="roundRect">
            <a:avLst>
              <a:gd name="adj" fmla="val 17857"/>
            </a:avLst>
          </a:prstGeom>
          <a:solidFill>
            <a:srgbClr val="12384B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17536" y="3401568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8979408" y="1700784"/>
            <a:ext cx="1051560" cy="512064"/>
          </a:xfrm>
          <a:prstGeom prst="roundRect">
            <a:avLst>
              <a:gd name="adj" fmla="val 17857"/>
            </a:avLst>
          </a:prstGeom>
          <a:solidFill>
            <a:srgbClr val="12384B"/>
          </a:solidFill>
          <a:ln w="10160">
            <a:solidFill>
              <a:srgbClr val="3DDCFF">
                <a:alpha val="9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52560" y="1865376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物化实例</a:t>
            </a:r>
            <a:endParaRPr lang="en-US" sz="820" dirty="0"/>
          </a:p>
        </p:txBody>
      </p:sp>
      <p:sp>
        <p:nvSpPr>
          <p:cNvPr id="34" name="Shape 32"/>
          <p:cNvSpPr/>
          <p:nvPr/>
        </p:nvSpPr>
        <p:spPr>
          <a:xfrm>
            <a:off x="10040112" y="4754880"/>
            <a:ext cx="1051560" cy="512064"/>
          </a:xfrm>
          <a:prstGeom prst="roundRect">
            <a:avLst>
              <a:gd name="adj" fmla="val 17857"/>
            </a:avLst>
          </a:prstGeom>
          <a:solidFill>
            <a:srgbClr val="12384B"/>
          </a:solidFill>
          <a:ln w="10160">
            <a:solidFill>
              <a:srgbClr val="FFD166">
                <a:alpha val="9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13264" y="4919472"/>
            <a:ext cx="905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容器运行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指标回写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3154680" y="1975104"/>
            <a:ext cx="457200" cy="1261872"/>
          </a:xfrm>
          <a:prstGeom prst="line">
            <a:avLst/>
          </a:prstGeom>
          <a:noFill/>
          <a:ln w="17145">
            <a:solidFill>
              <a:srgbClr val="8EA8B8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681728" y="3493008"/>
            <a:ext cx="146304" cy="0"/>
          </a:xfrm>
          <a:prstGeom prst="line">
            <a:avLst/>
          </a:prstGeom>
          <a:noFill/>
          <a:ln w="17145">
            <a:solidFill>
              <a:srgbClr val="62E29A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888736" y="3493008"/>
            <a:ext cx="146304" cy="0"/>
          </a:xfrm>
          <a:prstGeom prst="line">
            <a:avLst/>
          </a:prstGeom>
          <a:noFill/>
          <a:ln w="17145">
            <a:solidFill>
              <a:srgbClr val="62E29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114032" y="3493008"/>
            <a:ext cx="530352" cy="0"/>
          </a:xfrm>
          <a:prstGeom prst="line">
            <a:avLst/>
          </a:prstGeom>
          <a:noFill/>
          <a:ln w="17145">
            <a:solidFill>
              <a:srgbClr val="62E29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8339328" y="3310128"/>
            <a:ext cx="640080" cy="-1335024"/>
          </a:xfrm>
          <a:prstGeom prst="line">
            <a:avLst/>
          </a:prstGeom>
          <a:noFill/>
          <a:ln w="17145">
            <a:solidFill>
              <a:srgbClr val="3DDCFF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509760" y="2212848"/>
            <a:ext cx="530352" cy="2542032"/>
          </a:xfrm>
          <a:prstGeom prst="line">
            <a:avLst/>
          </a:prstGeom>
          <a:noFill/>
          <a:ln w="17145">
            <a:solidFill>
              <a:srgbClr val="FFD166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24128" y="5687568"/>
            <a:ext cx="9966960" cy="438912"/>
          </a:xfrm>
          <a:prstGeom prst="roundRect">
            <a:avLst>
              <a:gd name="adj" fmla="val 20833"/>
            </a:avLst>
          </a:prstGeom>
          <a:solidFill>
            <a:srgbClr val="173F55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97280" y="5815584"/>
            <a:ext cx="9820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前端选择“外部路由系统”时，平台只创建 pending 工单；路由回写 placements 后平台自动部署。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7"/>
          </a:solidFill>
          <a:ln w="12700">
            <a:solidFill>
              <a:srgbClr val="07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46920" y="-914400"/>
            <a:ext cx="3566160" cy="3566160"/>
          </a:xfrm>
          <a:prstGeom prst="arc">
            <a:avLst/>
          </a:prstGeom>
          <a:noFill/>
          <a:ln w="15240">
            <a:solidFill>
              <a:srgbClr val="3DDC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645920" y="5303520"/>
            <a:ext cx="3291840" cy="3291840"/>
          </a:xfrm>
          <a:prstGeom prst="arc">
            <a:avLst/>
          </a:prstGeom>
          <a:noFill/>
          <a:ln w="12700">
            <a:solidFill>
              <a:srgbClr val="27D6A4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D6A4"/>
          </a:solidFill>
          <a:ln w="12700">
            <a:solidFill>
              <a:srgbClr val="27D6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286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DD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输入输出规范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6446520"/>
            <a:ext cx="10744200" cy="0"/>
          </a:xfrm>
          <a:prstGeom prst="line">
            <a:avLst/>
          </a:prstGeom>
          <a:noFill/>
          <a:ln w="10160">
            <a:solidFill>
              <a:srgbClr val="244B5E">
                <a:alpha val="7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外部路由系统对接说明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292840" y="6419088"/>
            <a:ext cx="411480" cy="292608"/>
          </a:xfrm>
          <a:prstGeom prst="roundRect">
            <a:avLst>
              <a:gd name="adj" fmla="val 25000"/>
            </a:avLst>
          </a:prstGeom>
          <a:solidFill>
            <a:srgbClr val="12384B"/>
          </a:solidFill>
          <a:ln w="12700">
            <a:solidFill>
              <a:srgbClr val="244B5E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92840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94360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输入输出只抓两个 JSON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1792" y="114300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字段冻结：后续只增不改，避免联调后反复改接口。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58368" y="1627632"/>
            <a:ext cx="5358384" cy="4251960"/>
          </a:xfrm>
          <a:prstGeom prst="roundRect">
            <a:avLst>
              <a:gd name="adj" fmla="val 2581"/>
            </a:avLst>
          </a:prstGeom>
          <a:solidFill>
            <a:srgbClr val="04111C"/>
          </a:solidFill>
          <a:ln w="10160">
            <a:solidFill>
              <a:srgbClr val="3DDCFF">
                <a:alpha val="9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1792224"/>
            <a:ext cx="2194560" cy="274320"/>
          </a:xfrm>
          <a:prstGeom prst="roundRect">
            <a:avLst>
              <a:gd name="adj" fmla="val 26667"/>
            </a:avLst>
          </a:prstGeom>
          <a:solidFill>
            <a:srgbClr val="3DDCFF">
              <a:alpha val="92000"/>
            </a:srgbClr>
          </a:solidFill>
          <a:ln w="7620">
            <a:solidFill>
              <a:srgbClr val="3DDCFF">
                <a:alpha val="8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184251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输入：routing_input_dag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86968" y="2194560"/>
            <a:ext cx="4901184" cy="3538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{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"job_id": "&lt;order_id&gt;",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"nodes": [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{"node_id":"source",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"node_type":"endpoint",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"fixed_node_name":"源节点名"},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{"node_id":"compute",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"node_type":"compute",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"resources":{"gpu_units":1}},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{"node_id":"sink",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"node_type":"endpoint",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"fixed_node_name":"目的节点名"}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]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6355080" y="1627632"/>
            <a:ext cx="5175504" cy="4251960"/>
          </a:xfrm>
          <a:prstGeom prst="roundRect">
            <a:avLst>
              <a:gd name="adj" fmla="val 2581"/>
            </a:avLst>
          </a:prstGeom>
          <a:solidFill>
            <a:srgbClr val="04111C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19672" y="1792224"/>
            <a:ext cx="2194560" cy="274320"/>
          </a:xfrm>
          <a:prstGeom prst="roundRect">
            <a:avLst>
              <a:gd name="adj" fmla="val 26667"/>
            </a:avLst>
          </a:prstGeom>
          <a:solidFill>
            <a:srgbClr val="62E29A">
              <a:alpha val="92000"/>
            </a:srgbClr>
          </a:solidFill>
          <a:ln w="7620">
            <a:solidFill>
              <a:srgbClr val="62E29A">
                <a:alpha val="8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9672" y="184251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输出：POST result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583680" y="2194560"/>
            <a:ext cx="4718304" cy="3538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{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"strategy": "resource_guarantee",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"placements": [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{"node_id":"compute",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"worker_host":"算力节点名",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"gpu_device":"0"}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],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"metadata": {"path":["源节点","算力节点","目的节点"]}</a:t>
            </a:r>
            <a:endParaRPr lang="en-US" sz="740" dirty="0"/>
          </a:p>
          <a:p>
            <a:pPr indent="0" marL="0">
              <a:buNone/>
            </a:pPr>
            <a:r>
              <a:rPr lang="en-US" sz="740" dirty="0">
                <a:solidFill>
                  <a:srgbClr val="D9E8F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7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7"/>
          </a:solidFill>
          <a:ln w="12700">
            <a:solidFill>
              <a:srgbClr val="07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46920" y="-914400"/>
            <a:ext cx="3566160" cy="3566160"/>
          </a:xfrm>
          <a:prstGeom prst="arc">
            <a:avLst/>
          </a:prstGeom>
          <a:noFill/>
          <a:ln w="15240">
            <a:solidFill>
              <a:srgbClr val="3DDC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645920" y="5303520"/>
            <a:ext cx="3291840" cy="3291840"/>
          </a:xfrm>
          <a:prstGeom prst="arc">
            <a:avLst/>
          </a:prstGeom>
          <a:noFill/>
          <a:ln w="12700">
            <a:solidFill>
              <a:srgbClr val="27D6A4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D6A4"/>
          </a:solidFill>
          <a:ln w="12700">
            <a:solidFill>
              <a:srgbClr val="27D6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286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DD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GPU 独占与释放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6446520"/>
            <a:ext cx="10744200" cy="0"/>
          </a:xfrm>
          <a:prstGeom prst="line">
            <a:avLst/>
          </a:prstGeom>
          <a:noFill/>
          <a:ln w="10160">
            <a:solidFill>
              <a:srgbClr val="244B5E">
                <a:alpha val="7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外部路由系统对接说明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292840" y="6419088"/>
            <a:ext cx="411480" cy="292608"/>
          </a:xfrm>
          <a:prstGeom prst="roundRect">
            <a:avLst>
              <a:gd name="adj" fmla="val 25000"/>
            </a:avLst>
          </a:prstGeom>
          <a:solidFill>
            <a:srgbClr val="12384B"/>
          </a:solidFill>
          <a:ln w="12700">
            <a:solidFill>
              <a:srgbClr val="244B5E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92840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94360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为什么要按 GPU 槽位分批执行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1792" y="114300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GPU 被多个 benchmark 任务争用时，业务目标成功率会被拖低。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86384" y="2139696"/>
            <a:ext cx="1444752" cy="566928"/>
          </a:xfrm>
          <a:prstGeom prst="roundRect">
            <a:avLst>
              <a:gd name="adj" fmla="val 16129"/>
            </a:avLst>
          </a:prstGeom>
          <a:solidFill>
            <a:srgbClr val="12384B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33172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空闲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67712" y="2423160"/>
            <a:ext cx="640080" cy="0"/>
          </a:xfrm>
          <a:prstGeom prst="line">
            <a:avLst/>
          </a:prstGeom>
          <a:noFill/>
          <a:ln w="17145">
            <a:solidFill>
              <a:srgbClr val="62E2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935224" y="2139696"/>
            <a:ext cx="1444752" cy="566928"/>
          </a:xfrm>
          <a:prstGeom prst="roundRect">
            <a:avLst>
              <a:gd name="adj" fmla="val 16129"/>
            </a:avLst>
          </a:prstGeom>
          <a:solidFill>
            <a:srgbClr val="12384B"/>
          </a:solidFill>
          <a:ln w="10160">
            <a:solidFill>
              <a:srgbClr val="3DDCFF">
                <a:alpha val="9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08376" y="233172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路由分配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416552" y="2423160"/>
            <a:ext cx="640080" cy="0"/>
          </a:xfrm>
          <a:prstGeom prst="line">
            <a:avLst/>
          </a:prstGeom>
          <a:noFill/>
          <a:ln w="17145">
            <a:solidFill>
              <a:srgbClr val="3DDCF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084064" y="2139696"/>
            <a:ext cx="1444752" cy="566928"/>
          </a:xfrm>
          <a:prstGeom prst="roundRect">
            <a:avLst>
              <a:gd name="adj" fmla="val 16129"/>
            </a:avLst>
          </a:prstGeom>
          <a:solidFill>
            <a:srgbClr val="12384B"/>
          </a:solidFill>
          <a:ln w="10160">
            <a:solidFill>
              <a:srgbClr val="FFD166">
                <a:alpha val="9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57216" y="233172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平台部署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65392" y="2423160"/>
            <a:ext cx="640080" cy="0"/>
          </a:xfrm>
          <a:prstGeom prst="line">
            <a:avLst/>
          </a:prstGeom>
          <a:noFill/>
          <a:ln w="17145">
            <a:solidFill>
              <a:srgbClr val="FFD166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232904" y="2139696"/>
            <a:ext cx="1444752" cy="566928"/>
          </a:xfrm>
          <a:prstGeom prst="roundRect">
            <a:avLst>
              <a:gd name="adj" fmla="val 16129"/>
            </a:avLst>
          </a:prstGeom>
          <a:solidFill>
            <a:srgbClr val="12384B"/>
          </a:solidFill>
          <a:ln w="10160">
            <a:solidFill>
              <a:srgbClr val="27D6A4">
                <a:alpha val="9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6056" y="233172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任务结束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714232" y="2423160"/>
            <a:ext cx="640080" cy="0"/>
          </a:xfrm>
          <a:prstGeom prst="line">
            <a:avLst/>
          </a:prstGeom>
          <a:noFill/>
          <a:ln w="17145">
            <a:solidFill>
              <a:srgbClr val="27D6A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381744" y="2139696"/>
            <a:ext cx="1444752" cy="566928"/>
          </a:xfrm>
          <a:prstGeom prst="roundRect">
            <a:avLst>
              <a:gd name="adj" fmla="val 16129"/>
            </a:avLst>
          </a:prstGeom>
          <a:solidFill>
            <a:srgbClr val="12384B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54896" y="233172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释放事件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68680" y="3794760"/>
            <a:ext cx="4892040" cy="1353312"/>
          </a:xfrm>
          <a:prstGeom prst="roundRect">
            <a:avLst>
              <a:gd name="adj" fmla="val 8108"/>
            </a:avLst>
          </a:prstGeom>
          <a:solidFill>
            <a:srgbClr val="12384B"/>
          </a:solidFill>
          <a:ln w="10160">
            <a:solidFill>
              <a:srgbClr val="FF6B6B">
                <a:alpha val="9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15568" y="4041648"/>
            <a:ext cx="1115568" cy="274320"/>
          </a:xfrm>
          <a:prstGeom prst="roundRect">
            <a:avLst>
              <a:gd name="adj" fmla="val 26667"/>
            </a:avLst>
          </a:prstGeom>
          <a:solidFill>
            <a:srgbClr val="FF6B6B">
              <a:alpha val="92000"/>
            </a:srgbClr>
          </a:solidFill>
          <a:ln w="7620">
            <a:solidFill>
              <a:srgbClr val="FF6B6B">
                <a:alpha val="85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4091940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平台兜底拒绝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15568" y="448056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 worker_host + gpu_device 已被未释放任务占用，result 接口返回 409，路由系统撤销扣减并重新选择或 requeue。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6263640" y="3794760"/>
            <a:ext cx="4892040" cy="1353312"/>
          </a:xfrm>
          <a:prstGeom prst="roundRect">
            <a:avLst>
              <a:gd name="adj" fmla="val 8108"/>
            </a:avLst>
          </a:prstGeom>
          <a:solidFill>
            <a:srgbClr val="12384B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0528" y="4041648"/>
            <a:ext cx="1115568" cy="274320"/>
          </a:xfrm>
          <a:prstGeom prst="roundRect">
            <a:avLst>
              <a:gd name="adj" fmla="val 26667"/>
            </a:avLst>
          </a:prstGeom>
          <a:solidFill>
            <a:srgbClr val="62E29A">
              <a:alpha val="92000"/>
            </a:srgbClr>
          </a:solidFill>
          <a:ln w="7620">
            <a:solidFill>
              <a:srgbClr val="62E29A">
                <a:alpha val="85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10528" y="4091940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资源释放事件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6510528" y="448056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任务停止、删除或清理实例时，平台写 routing_resource_events；路由系统 ack 后加回自己的资源表。</a:t>
            </a:r>
            <a:endParaRPr lang="en-US" sz="9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7"/>
          </a:solidFill>
          <a:ln w="12700">
            <a:solidFill>
              <a:srgbClr val="07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46920" y="-914400"/>
            <a:ext cx="3566160" cy="3566160"/>
          </a:xfrm>
          <a:prstGeom prst="arc">
            <a:avLst/>
          </a:prstGeom>
          <a:noFill/>
          <a:ln w="15240">
            <a:solidFill>
              <a:srgbClr val="3DDC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645920" y="5303520"/>
            <a:ext cx="3291840" cy="3291840"/>
          </a:xfrm>
          <a:prstGeom prst="arc">
            <a:avLst/>
          </a:prstGeom>
          <a:noFill/>
          <a:ln w="12700">
            <a:solidFill>
              <a:srgbClr val="27D6A4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D6A4"/>
          </a:solidFill>
          <a:ln w="12700">
            <a:solidFill>
              <a:srgbClr val="27D6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286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DD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30 工单测评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6446520"/>
            <a:ext cx="10744200" cy="0"/>
          </a:xfrm>
          <a:prstGeom prst="line">
            <a:avLst/>
          </a:prstGeom>
          <a:noFill/>
          <a:ln w="10160">
            <a:solidFill>
              <a:srgbClr val="244B5E">
                <a:alpha val="7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外部路由系统对接说明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292840" y="6419088"/>
            <a:ext cx="411480" cy="292608"/>
          </a:xfrm>
          <a:prstGeom prst="roundRect">
            <a:avLst>
              <a:gd name="adj" fmla="val 25000"/>
            </a:avLst>
          </a:prstGeom>
          <a:solidFill>
            <a:srgbClr val="12384B"/>
          </a:solidFill>
          <a:ln w="12700">
            <a:solidFill>
              <a:srgbClr val="244B5E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92840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94360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任务数多于 GPU 数量时怎么跑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1792" y="114300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个工单不是一次性全并发，而是按 compute 节点 + GPU 编号形成槽位。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4672" y="1828800"/>
            <a:ext cx="2011680" cy="512064"/>
          </a:xfrm>
          <a:prstGeom prst="roundRect">
            <a:avLst>
              <a:gd name="adj" fmla="val 17857"/>
            </a:avLst>
          </a:prstGeom>
          <a:solidFill>
            <a:srgbClr val="12384B"/>
          </a:solidFill>
          <a:ln w="10160">
            <a:solidFill>
              <a:srgbClr val="3DDCFF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1993392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算力节点 A / GPU0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3246120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3DDCFF"/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32504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3DDCFF"/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18888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3DDCFF"/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05272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3DDCFF"/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91656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73F55">
              <a:alpha val="80000"/>
            </a:srgbClr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78040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73F55">
              <a:alpha val="80000"/>
            </a:srgbClr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64424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73F55">
              <a:alpha val="80000"/>
            </a:srgbClr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50808" y="1828800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73F55">
              <a:alpha val="80000"/>
            </a:srgbClr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528048" y="2084832"/>
            <a:ext cx="667512" cy="0"/>
          </a:xfrm>
          <a:prstGeom prst="line">
            <a:avLst/>
          </a:prstGeom>
          <a:noFill/>
          <a:ln w="17145">
            <a:solidFill>
              <a:srgbClr val="8EA8B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241280" y="1847088"/>
            <a:ext cx="822960" cy="475488"/>
          </a:xfrm>
          <a:prstGeom prst="roundRect">
            <a:avLst>
              <a:gd name="adj" fmla="val 19231"/>
            </a:avLst>
          </a:prstGeom>
          <a:solidFill>
            <a:srgbClr val="12384B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14432" y="1993392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804672" y="2907792"/>
            <a:ext cx="2011680" cy="512064"/>
          </a:xfrm>
          <a:prstGeom prst="roundRect">
            <a:avLst>
              <a:gd name="adj" fmla="val 17857"/>
            </a:avLst>
          </a:prstGeom>
          <a:solidFill>
            <a:srgbClr val="12384B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7824" y="3072384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算力节点 B / GPU0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246120" y="29077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62E29A"/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32504" y="29077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62E29A"/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18888" y="29077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62E29A"/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05272" y="29077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62E29A"/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91656" y="29077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73F55">
              <a:alpha val="80000"/>
            </a:srgbClr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78040" y="29077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73F55">
              <a:alpha val="80000"/>
            </a:srgbClr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64424" y="29077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73F55">
              <a:alpha val="80000"/>
            </a:srgbClr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50808" y="2907792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73F55">
              <a:alpha val="80000"/>
            </a:srgbClr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528048" y="3163824"/>
            <a:ext cx="667512" cy="0"/>
          </a:xfrm>
          <a:prstGeom prst="line">
            <a:avLst/>
          </a:prstGeom>
          <a:noFill/>
          <a:ln w="17145">
            <a:solidFill>
              <a:srgbClr val="8EA8B8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241280" y="2926080"/>
            <a:ext cx="822960" cy="475488"/>
          </a:xfrm>
          <a:prstGeom prst="roundRect">
            <a:avLst>
              <a:gd name="adj" fmla="val 19231"/>
            </a:avLst>
          </a:prstGeom>
          <a:solidFill>
            <a:srgbClr val="12384B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14432" y="3072384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804672" y="3986784"/>
            <a:ext cx="2011680" cy="512064"/>
          </a:xfrm>
          <a:prstGeom prst="roundRect">
            <a:avLst>
              <a:gd name="adj" fmla="val 17857"/>
            </a:avLst>
          </a:prstGeom>
          <a:solidFill>
            <a:srgbClr val="12384B"/>
          </a:solidFill>
          <a:ln w="10160">
            <a:solidFill>
              <a:srgbClr val="FFD166">
                <a:alpha val="9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7824" y="4151376"/>
            <a:ext cx="186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算力节点 C / GPU0</a:t>
            </a: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3246120" y="39867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FFD166"/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032504" y="39867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FFD166"/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18888" y="39867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FFD166"/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05272" y="39867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FFD166"/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391656" y="39867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73F55">
              <a:alpha val="80000"/>
            </a:srgbClr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178040" y="39867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73F55">
              <a:alpha val="80000"/>
            </a:srgbClr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64424" y="39867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73F55">
              <a:alpha val="80000"/>
            </a:srgbClr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750808" y="3986784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173F55">
              <a:alpha val="80000"/>
            </a:srgbClr>
          </a:solidFill>
          <a:ln w="12700">
            <a:solidFill>
              <a:srgbClr val="244B5E">
                <a:alpha val="8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528048" y="4242816"/>
            <a:ext cx="667512" cy="0"/>
          </a:xfrm>
          <a:prstGeom prst="line">
            <a:avLst/>
          </a:prstGeom>
          <a:noFill/>
          <a:ln w="17145">
            <a:solidFill>
              <a:srgbClr val="8EA8B8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10241280" y="4005072"/>
            <a:ext cx="822960" cy="475488"/>
          </a:xfrm>
          <a:prstGeom prst="roundRect">
            <a:avLst>
              <a:gd name="adj" fmla="val 19231"/>
            </a:avLst>
          </a:prstGeom>
          <a:solidFill>
            <a:srgbClr val="12384B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314432" y="4151376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release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822960" y="5257800"/>
            <a:ext cx="5074920" cy="749808"/>
          </a:xfrm>
          <a:prstGeom prst="roundRect">
            <a:avLst>
              <a:gd name="adj" fmla="val 14634"/>
            </a:avLst>
          </a:prstGeom>
          <a:solidFill>
            <a:srgbClr val="12384B"/>
          </a:solidFill>
          <a:ln w="10160">
            <a:solidFill>
              <a:srgbClr val="3DDCFF">
                <a:alpha val="9000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0704" y="554126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平台执行策略：每个 slot 单任务并发；完成一批释放一批；保留工单证据，按需清理容器实例。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6309360" y="5257800"/>
            <a:ext cx="4864608" cy="749808"/>
          </a:xfrm>
          <a:prstGeom prst="roundRect">
            <a:avLst>
              <a:gd name="adj" fmla="val 14634"/>
            </a:avLst>
          </a:prstGeom>
          <a:solidFill>
            <a:srgbClr val="12384B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5541264"/>
            <a:ext cx="4370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路由系统策略：pending 工单会在资源释放后继续被扫描；资源扣减和加回都以 order_id 为准。</a:t>
            </a:r>
            <a:endParaRPr lang="en-US" sz="9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7"/>
          </a:solidFill>
          <a:ln w="12700">
            <a:solidFill>
              <a:srgbClr val="07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46920" y="-914400"/>
            <a:ext cx="3566160" cy="3566160"/>
          </a:xfrm>
          <a:prstGeom prst="arc">
            <a:avLst/>
          </a:prstGeom>
          <a:noFill/>
          <a:ln w="15240">
            <a:solidFill>
              <a:srgbClr val="3DDC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645920" y="5303520"/>
            <a:ext cx="3291840" cy="3291840"/>
          </a:xfrm>
          <a:prstGeom prst="arc">
            <a:avLst/>
          </a:prstGeom>
          <a:noFill/>
          <a:ln w="12700">
            <a:solidFill>
              <a:srgbClr val="27D6A4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D6A4"/>
          </a:solidFill>
          <a:ln w="12700">
            <a:solidFill>
              <a:srgbClr val="27D6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286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DD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路由同学最小实现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6446520"/>
            <a:ext cx="10744200" cy="0"/>
          </a:xfrm>
          <a:prstGeom prst="line">
            <a:avLst/>
          </a:prstGeom>
          <a:noFill/>
          <a:ln w="10160">
            <a:solidFill>
              <a:srgbClr val="244B5E">
                <a:alpha val="7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外部路由系统对接说明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292840" y="6419088"/>
            <a:ext cx="411480" cy="292608"/>
          </a:xfrm>
          <a:prstGeom prst="roundRect">
            <a:avLst>
              <a:gd name="adj" fmla="val 25000"/>
            </a:avLst>
          </a:prstGeom>
          <a:solidFill>
            <a:srgbClr val="12384B"/>
          </a:solidFill>
          <a:ln w="12700">
            <a:solidFill>
              <a:srgbClr val="244B5E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92840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94360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路由系统要实现的 6 件事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1792" y="114300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这一页就是最小交付清单，按顺序做即可联调。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13232" y="1609344"/>
            <a:ext cx="10771632" cy="4389120"/>
          </a:xfrm>
          <a:prstGeom prst="roundRect">
            <a:avLst>
              <a:gd name="adj" fmla="val 2500"/>
            </a:avLst>
          </a:prstGeom>
          <a:solidFill>
            <a:srgbClr val="102C3D"/>
          </a:solidFill>
          <a:ln w="10160">
            <a:solidFill>
              <a:srgbClr val="244B5E">
                <a:alpha val="9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" y="1920240"/>
            <a:ext cx="384048" cy="384048"/>
          </a:xfrm>
          <a:prstGeom prst="ellipse">
            <a:avLst/>
          </a:prstGeom>
          <a:solidFill>
            <a:srgbClr val="3DDCFF"/>
          </a:solidFill>
          <a:ln w="12700">
            <a:solidFill>
              <a:srgbClr val="3DD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1993392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1554480" y="193852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扫表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816352" y="194767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 task_orders 中 routing_status='pending' 的工单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987552" y="2487168"/>
            <a:ext cx="384048" cy="384048"/>
          </a:xfrm>
          <a:prstGeom prst="ellipse">
            <a:avLst/>
          </a:prstGeom>
          <a:solidFill>
            <a:srgbClr val="62E29A"/>
          </a:solidFill>
          <a:ln w="12700">
            <a:solidFill>
              <a:srgbClr val="62E2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2560320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1554480" y="250545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抢占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816352" y="2514600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 claim 接口；成功后才开始计算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987552" y="3054096"/>
            <a:ext cx="384048" cy="38404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3127248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1554480" y="307238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816352" y="3081528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 DAG，选择 compute worker_host 和 gpu_device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987552" y="3621024"/>
            <a:ext cx="384048" cy="384048"/>
          </a:xfrm>
          <a:prstGeom prst="ellipse">
            <a:avLst/>
          </a:prstGeom>
          <a:solidFill>
            <a:srgbClr val="27D6A4"/>
          </a:solidFill>
          <a:ln w="12700">
            <a:solidFill>
              <a:srgbClr val="27D6A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" y="3694176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40" dirty="0"/>
          </a:p>
        </p:txBody>
      </p:sp>
      <p:sp>
        <p:nvSpPr>
          <p:cNvPr id="28" name="Text 26"/>
          <p:cNvSpPr/>
          <p:nvPr/>
        </p:nvSpPr>
        <p:spPr>
          <a:xfrm>
            <a:off x="1554480" y="363931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回写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816352" y="3648456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 result 接口，写 placements 和 metadata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987552" y="4187952"/>
            <a:ext cx="384048" cy="384048"/>
          </a:xfrm>
          <a:prstGeom prst="ellipse">
            <a:avLst/>
          </a:prstGeom>
          <a:solidFill>
            <a:srgbClr val="62E29A"/>
          </a:solidFill>
          <a:ln w="12700">
            <a:solidFill>
              <a:srgbClr val="62E29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" y="4261104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40" dirty="0"/>
          </a:p>
        </p:txBody>
      </p:sp>
      <p:sp>
        <p:nvSpPr>
          <p:cNvPr id="32" name="Text 30"/>
          <p:cNvSpPr/>
          <p:nvPr/>
        </p:nvSpPr>
        <p:spPr>
          <a:xfrm>
            <a:off x="1554480" y="42062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816352" y="421538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 release events，加回资源后 ack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87552" y="4828032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411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1554480" y="477316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816352" y="478231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资源暂不足 requeue；无法路由 fail；409 冲突撤销扣减</a:t>
            </a:r>
            <a:endParaRPr lang="en-US" sz="960" dirty="0"/>
          </a:p>
        </p:txBody>
      </p:sp>
      <p:sp>
        <p:nvSpPr>
          <p:cNvPr id="38" name="Shape 36"/>
          <p:cNvSpPr/>
          <p:nvPr/>
        </p:nvSpPr>
        <p:spPr>
          <a:xfrm>
            <a:off x="987552" y="5687568"/>
            <a:ext cx="10012680" cy="384048"/>
          </a:xfrm>
          <a:prstGeom prst="roundRect">
            <a:avLst>
              <a:gd name="adj" fmla="val 23810"/>
            </a:avLst>
          </a:prstGeom>
          <a:solidFill>
            <a:srgbClr val="173F55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60704" y="5788152"/>
            <a:ext cx="9866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交付标准：前端切换到“外部路由系统”后，3 个联调工单跑通，再跑 30 个 benchmark 工单。</a:t>
            </a:r>
            <a:endParaRPr lang="en-US" sz="9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7"/>
          </a:solidFill>
          <a:ln w="12700">
            <a:solidFill>
              <a:srgbClr val="07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46920" y="-914400"/>
            <a:ext cx="3566160" cy="3566160"/>
          </a:xfrm>
          <a:prstGeom prst="arc">
            <a:avLst/>
          </a:prstGeom>
          <a:noFill/>
          <a:ln w="15240">
            <a:solidFill>
              <a:srgbClr val="3DDC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645920" y="5303520"/>
            <a:ext cx="3291840" cy="3291840"/>
          </a:xfrm>
          <a:prstGeom prst="arc">
            <a:avLst/>
          </a:prstGeom>
          <a:noFill/>
          <a:ln w="12700">
            <a:solidFill>
              <a:srgbClr val="27D6A4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7D6A4"/>
          </a:solidFill>
          <a:ln w="12700">
            <a:solidFill>
              <a:srgbClr val="27D6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286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DD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联调部署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6446520"/>
            <a:ext cx="10744200" cy="0"/>
          </a:xfrm>
          <a:prstGeom prst="line">
            <a:avLst/>
          </a:prstGeom>
          <a:noFill/>
          <a:ln w="10160">
            <a:solidFill>
              <a:srgbClr val="244B5E">
                <a:alpha val="7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外部路由系统对接说明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292840" y="6419088"/>
            <a:ext cx="411480" cy="292608"/>
          </a:xfrm>
          <a:prstGeom prst="roundRect">
            <a:avLst>
              <a:gd name="adj" fmla="val 25000"/>
            </a:avLst>
          </a:prstGeom>
          <a:solidFill>
            <a:srgbClr val="12384B"/>
          </a:solidFill>
          <a:ln w="12700">
            <a:solidFill>
              <a:srgbClr val="244B5E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92840" y="6464808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94360" y="65836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推荐联调方式：都部署在管理节点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21792" y="114300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路由服务跑在 admin-server 某个端口，直连同一个 MySQL，调用平台 HTTP 接口回写。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9808" y="1664208"/>
            <a:ext cx="3246120" cy="1143000"/>
          </a:xfrm>
          <a:prstGeom prst="roundRect">
            <a:avLst>
              <a:gd name="adj" fmla="val 9600"/>
            </a:avLst>
          </a:prstGeom>
          <a:solidFill>
            <a:srgbClr val="12384B"/>
          </a:solidFill>
          <a:ln w="10160">
            <a:solidFill>
              <a:srgbClr val="244B5E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" y="1828800"/>
            <a:ext cx="2843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部署位置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50976" y="2057400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DD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admin-server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50976" y="2505456"/>
            <a:ext cx="2843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独立进程或容器均可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4443984" y="1664208"/>
            <a:ext cx="3246120" cy="1143000"/>
          </a:xfrm>
          <a:prstGeom prst="roundRect">
            <a:avLst>
              <a:gd name="adj" fmla="val 9600"/>
            </a:avLst>
          </a:prstGeom>
          <a:solidFill>
            <a:srgbClr val="12384B"/>
          </a:solidFill>
          <a:ln w="10160">
            <a:solidFill>
              <a:srgbClr val="244B5E">
                <a:alpha val="9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45152" y="1828800"/>
            <a:ext cx="2843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645152" y="2057400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62E2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MySQL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4645152" y="2505456"/>
            <a:ext cx="2843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只读待路由工单和 DAG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8138160" y="1664208"/>
            <a:ext cx="3246120" cy="1143000"/>
          </a:xfrm>
          <a:prstGeom prst="roundRect">
            <a:avLst>
              <a:gd name="adj" fmla="val 9600"/>
            </a:avLst>
          </a:prstGeom>
          <a:solidFill>
            <a:srgbClr val="12384B"/>
          </a:solidFill>
          <a:ln w="10160">
            <a:solidFill>
              <a:srgbClr val="244B5E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1828800"/>
            <a:ext cx="2843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EA8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回写方式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339328" y="2057400"/>
            <a:ext cx="2843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1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8339328" y="2505456"/>
            <a:ext cx="28437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 X-Service-Token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749808" y="3310128"/>
            <a:ext cx="10634472" cy="1993392"/>
          </a:xfrm>
          <a:prstGeom prst="roundRect">
            <a:avLst>
              <a:gd name="adj" fmla="val 5505"/>
            </a:avLst>
          </a:prstGeom>
          <a:solidFill>
            <a:srgbClr val="102C3D"/>
          </a:solidFill>
          <a:ln w="10160">
            <a:solidFill>
              <a:srgbClr val="244B5E">
                <a:alpha val="9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1560" y="358444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联调顺序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51560" y="3986784"/>
            <a:ext cx="9601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第一步：平台创建 3 个 pending 工单，路由系统 claim 后回写 placements。</a:t>
            </a:r>
            <a:endParaRPr lang="en-US" sz="1050" dirty="0"/>
          </a:p>
          <a:p>
            <a:r>
              <a:rPr lang="en-US" sz="105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第二步：平台页面确认工单进入部署流程，能看到 compute 节点和 GPU 编号。</a:t>
            </a:r>
            <a:endParaRPr lang="en-US" sz="1050" dirty="0"/>
          </a:p>
          <a:p>
            <a:r>
              <a:rPr lang="en-US" sz="105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第三步：任务结束后平台写 release events，路由系统 ack 并加回资源。</a:t>
            </a:r>
            <a:endParaRPr lang="en-US" sz="1050" dirty="0"/>
          </a:p>
          <a:p>
            <a:r>
              <a:rPr lang="en-US" sz="1050" dirty="0">
                <a:solidFill>
                  <a:srgbClr val="D9E8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第四步：切到 30 个 benchmark 工单，验证成功率看板不低于 90%。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51560" y="5715000"/>
            <a:ext cx="9948672" cy="384048"/>
          </a:xfrm>
          <a:prstGeom prst="roundRect">
            <a:avLst>
              <a:gd name="adj" fmla="val 23810"/>
            </a:avLst>
          </a:prstGeom>
          <a:solidFill>
            <a:srgbClr val="173F55"/>
          </a:solidFill>
          <a:ln w="10160">
            <a:solidFill>
              <a:srgbClr val="62E29A">
                <a:alpha val="9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24712" y="5815584"/>
            <a:ext cx="9802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一句话：路由系统管算路和资源池；平台管生命周期、容器和业务证据。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BUPT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外部路由系统对接讲解</dc:title>
  <dc:subject>外部路由系统对接</dc:subject>
  <dc:creator>manage-deploy</dc:creator>
  <cp:lastModifiedBy>manage-deploy</cp:lastModifiedBy>
  <cp:revision>1</cp:revision>
  <dcterms:created xsi:type="dcterms:W3CDTF">2026-06-10T09:57:51Z</dcterms:created>
  <dcterms:modified xsi:type="dcterms:W3CDTF">2026-06-10T09:57:51Z</dcterms:modified>
</cp:coreProperties>
</file>