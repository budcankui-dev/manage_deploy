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143000"/>
            <a:ext cx="4389120" cy="4389120"/>
          </a:xfrm>
          <a:prstGeom prst="arc">
            <a:avLst/>
          </a:prstGeom>
          <a:noFill/>
          <a:ln w="17780">
            <a:solidFill>
              <a:srgbClr val="3DDC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78992"/>
            <a:ext cx="10881360" cy="4480560"/>
          </a:xfrm>
          <a:prstGeom prst="roundRect">
            <a:avLst>
              <a:gd name="adj" fmla="val 3673"/>
            </a:avLst>
          </a:prstGeom>
          <a:solidFill>
            <a:srgbClr val="102C3D">
              <a:alpha val="95000"/>
            </a:srgbClr>
          </a:solidFill>
          <a:ln w="12700">
            <a:solidFill>
              <a:srgbClr val="244B5E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17320"/>
            <a:ext cx="1627632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7612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ROUTING INTEGRATION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外部路由系统对接讲解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扫表领取工单 → 回写 placements → 获取端口绑定 → network-ready → 释放事件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0976" y="30906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目标：让路由同学只看这一套流程和接口就能完成联调。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58200" y="1536192"/>
            <a:ext cx="2487168" cy="1143000"/>
          </a:xfrm>
          <a:prstGeom prst="roundRect">
            <a:avLst>
              <a:gd name="adj" fmla="val 9600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59368" y="1700784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ID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659368" y="1929384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659368" y="23774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跨系统唯一主键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458200" y="2944368"/>
            <a:ext cx="2487168" cy="1143000"/>
          </a:xfrm>
          <a:prstGeom prst="roundRect">
            <a:avLst>
              <a:gd name="adj" fmla="val 9600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310896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规则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59368" y="3337560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独占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59368" y="378561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GPU 同时一个任务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932688" y="4828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manage-deploy / 2026-06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先讲边界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职责边界：双方各做自己最擅长的事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平台不做路由算法；路由系统不直接部署容器。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187452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212140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1717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Task Manager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97280" y="2670048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创建工单和 DAG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 placements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启动/停止容器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采集业务证据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5968" y="187452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12140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62E29A">
              <a:alpha val="92000"/>
            </a:srgbClr>
          </a:solidFill>
          <a:ln w="7620">
            <a:solidFill>
              <a:srgbClr val="62E29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1717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00016" y="2670048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扫描待路由工单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compute 节点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 GPU 编号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维护资源池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18704" y="187452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2384B"/>
          </a:solidFill>
          <a:ln w="1016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74736" y="212140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FFD166">
              <a:alpha val="92000"/>
            </a:srgbClr>
          </a:solidFill>
          <a:ln w="762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21717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Agent / Worker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02752" y="2670048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按平台指令运行容器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执行业务数据流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上报结果文件</a:t>
            </a:r>
            <a:endParaRPr lang="en-US" sz="1100" dirty="0"/>
          </a:p>
          <a:p>
            <a:r>
              <a:rPr lang="en-US" sz="11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不参与选路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68496" y="3493008"/>
            <a:ext cx="310896" cy="0"/>
          </a:xfrm>
          <a:prstGeom prst="line">
            <a:avLst/>
          </a:prstGeom>
          <a:noFill/>
          <a:ln w="17145">
            <a:solidFill>
              <a:srgbClr val="3DDC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71232" y="3493008"/>
            <a:ext cx="310896" cy="0"/>
          </a:xfrm>
          <a:prstGeom prst="line">
            <a:avLst/>
          </a:prstGeom>
          <a:noFill/>
          <a:ln w="17145">
            <a:solidFill>
              <a:srgbClr val="62E2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97280" y="5650992"/>
            <a:ext cx="10012680" cy="438912"/>
          </a:xfrm>
          <a:prstGeom prst="roundRect">
            <a:avLst>
              <a:gd name="adj" fmla="val 20833"/>
            </a:avLst>
          </a:prstGeom>
          <a:solidFill>
            <a:srgbClr val="173F55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5779008"/>
            <a:ext cx="9866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最小联调目标：3 个工单跑通；演示验收目标：30 个工单按 GPU 槽位分批完成，成功率不低于 90%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统一对象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跨系统只认一个业务主 ID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排查问题时不要在对话 ID、订单 ID、DAG job_id 之间来回猜。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214884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3865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conversation_id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468880" y="2487168"/>
            <a:ext cx="438912" cy="0"/>
          </a:xfrm>
          <a:prstGeom prst="line">
            <a:avLst/>
          </a:prstGeom>
          <a:noFill/>
          <a:ln w="13970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17520" y="214884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3865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order_id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681728" y="2487168"/>
            <a:ext cx="438912" cy="0"/>
          </a:xfrm>
          <a:prstGeom prst="line">
            <a:avLst/>
          </a:prstGeom>
          <a:noFill/>
          <a:ln w="13970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30368" y="214884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3865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job_id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894576" y="2487168"/>
            <a:ext cx="438912" cy="0"/>
          </a:xfrm>
          <a:prstGeom prst="line">
            <a:avLst/>
          </a:prstGeom>
          <a:noFill/>
          <a:ln w="13970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43216" y="214884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27D6A4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6368" y="23865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routing result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9107424" y="2487168"/>
            <a:ext cx="438912" cy="0"/>
          </a:xfrm>
          <a:prstGeom prst="line">
            <a:avLst/>
          </a:prstGeom>
          <a:noFill/>
          <a:ln w="13970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56064" y="214884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9216" y="23865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release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68680" y="3794760"/>
            <a:ext cx="10332720" cy="1600200"/>
          </a:xfrm>
          <a:prstGeom prst="roundRect">
            <a:avLst>
              <a:gd name="adj" fmla="val 6857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041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统一约定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443984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task_orders.id = routing_input_dag.order_id = routing_input_dag.job_id</a:t>
            </a:r>
            <a:endParaRPr lang="en-US" sz="1030" dirty="0"/>
          </a:p>
          <a:p>
            <a:r>
              <a:rPr lang="en-US" sz="10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常规业务默认 source / compute / sink；两节点业务可只保留 source -&gt; sink 或 source -&gt; compute</a:t>
            </a:r>
            <a:endParaRPr lang="en-US" sz="1030" dirty="0"/>
          </a:p>
          <a:p>
            <a:r>
              <a:rPr lang="en-US" sz="10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用户输入的源节点和目的节点写 fixed_node_name，不混入 node_id</a:t>
            </a:r>
            <a:endParaRPr lang="en-US" sz="1030" dirty="0"/>
          </a:p>
          <a:p>
            <a:r>
              <a:rPr lang="en-US" sz="10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路由只回写工作节点 placement；平台根据 fixed_node_name 自动补齐固定端点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路由状态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路由状态流：小系统也要不丢任务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扫表可以简单，但 claim / requeue / fail / result / network-ready 需要明确。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2057400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29514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55848" y="2057400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29514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43016" y="2057400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16168" y="229514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network_binding_ready / completed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30184" y="2057400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2384B"/>
          </a:solidFill>
          <a:ln w="10160">
            <a:solidFill>
              <a:srgbClr val="FF6B6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229514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96896" y="2395728"/>
            <a:ext cx="713232" cy="0"/>
          </a:xfrm>
          <a:prstGeom prst="line">
            <a:avLst/>
          </a:prstGeom>
          <a:noFill/>
          <a:ln w="17145">
            <a:solidFill>
              <a:srgbClr val="3DDC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74920" y="2395728"/>
            <a:ext cx="722376" cy="0"/>
          </a:xfrm>
          <a:prstGeom prst="line">
            <a:avLst/>
          </a:prstGeom>
          <a:noFill/>
          <a:ln w="17145">
            <a:solidFill>
              <a:srgbClr val="62E2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74920" y="2724912"/>
            <a:ext cx="3172968" cy="0"/>
          </a:xfrm>
          <a:prstGeom prst="line">
            <a:avLst/>
          </a:prstGeom>
          <a:noFill/>
          <a:ln w="17145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51960" y="2798064"/>
            <a:ext cx="-2377440" cy="0"/>
          </a:xfrm>
          <a:prstGeom prst="line">
            <a:avLst/>
          </a:prstGeom>
          <a:noFill/>
          <a:ln w="13335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70632" y="1993392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0632" y="20436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285232" y="1993392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62E29A">
              <a:alpha val="92000"/>
            </a:srgbClr>
          </a:solidFill>
          <a:ln w="7620">
            <a:solidFill>
              <a:srgbClr val="62E29A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20436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28816" y="2788920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FF6B6B">
              <a:alpha val="92000"/>
            </a:srgbClr>
          </a:solidFill>
          <a:ln w="762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28392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51760" y="2852928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D166">
              <a:alpha val="92000"/>
            </a:srgbClr>
          </a:solidFill>
          <a:ln w="762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9032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requeue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68680" y="416052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8992" y="437083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44211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路由系统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78992" y="4736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 → computing 必须原子抢占；result 后等待 network-ready；资源暂不足用 requeue。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4526280" y="416052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36592" y="437083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62E29A">
              <a:alpha val="92000"/>
            </a:srgbClr>
          </a:solidFill>
          <a:ln w="7620">
            <a:solidFill>
              <a:srgbClr val="62E29A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44211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平台兜底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36592" y="4736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 result 时校验 GPU 冲突并返回 network_bindings；已占用则返回 409。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183880" y="416052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12384B"/>
          </a:solidFill>
          <a:ln w="10160">
            <a:solidFill>
              <a:srgbClr val="FF6B6B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94192" y="437083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F6B6B">
              <a:alpha val="92000"/>
            </a:srgbClr>
          </a:solidFill>
          <a:ln w="762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4192" y="44211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94192" y="4736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确定无法路由才 fail；超时 computing 可恢复 pending。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计算路由交互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一次工单从提交到部署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数据库用于发现任务；HTTP 用于状态变更、端口绑定返回、network-ready 和审计。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1508760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102C3D">
              <a:alpha val="90000"/>
            </a:srgbClr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828800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187909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8368" y="3035808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102C3D">
              <a:alpha val="90000"/>
            </a:srgbClr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355848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62E29A">
              <a:alpha val="92000"/>
            </a:srgbClr>
          </a:solidFill>
          <a:ln w="7620">
            <a:solidFill>
              <a:srgbClr val="62E29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40614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路由系统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8368" y="4553712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102C3D">
              <a:alpha val="90000"/>
            </a:srgbClr>
          </a:solidFill>
          <a:ln w="1016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873752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FFD166">
              <a:alpha val="92000"/>
            </a:srgbClr>
          </a:solidFill>
          <a:ln w="762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92404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业务节点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057400" y="1700784"/>
            <a:ext cx="105156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865376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创建工单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入库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611880" y="3236976"/>
            <a:ext cx="105156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4015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828032" y="3236976"/>
            <a:ext cx="105156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34015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035040" y="3236976"/>
            <a:ext cx="105156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34015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placements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644384" y="3236976"/>
            <a:ext cx="105156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7536" y="34015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979408" y="1700784"/>
            <a:ext cx="105156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1865376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物化实例/动态端口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0040112" y="4754880"/>
            <a:ext cx="105156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13264" y="491947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network-ready 后运行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指标回写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154680" y="1975104"/>
            <a:ext cx="457200" cy="1261872"/>
          </a:xfrm>
          <a:prstGeom prst="line">
            <a:avLst/>
          </a:prstGeom>
          <a:noFill/>
          <a:ln w="17145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681728" y="3493008"/>
            <a:ext cx="146304" cy="0"/>
          </a:xfrm>
          <a:prstGeom prst="line">
            <a:avLst/>
          </a:prstGeom>
          <a:noFill/>
          <a:ln w="17145">
            <a:solidFill>
              <a:srgbClr val="62E29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888736" y="3493008"/>
            <a:ext cx="146304" cy="0"/>
          </a:xfrm>
          <a:prstGeom prst="line">
            <a:avLst/>
          </a:prstGeom>
          <a:noFill/>
          <a:ln w="17145">
            <a:solidFill>
              <a:srgbClr val="62E29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14032" y="3493008"/>
            <a:ext cx="530352" cy="0"/>
          </a:xfrm>
          <a:prstGeom prst="line">
            <a:avLst/>
          </a:prstGeom>
          <a:noFill/>
          <a:ln w="17145">
            <a:solidFill>
              <a:srgbClr val="62E29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339328" y="3310128"/>
            <a:ext cx="640080" cy="-1335024"/>
          </a:xfrm>
          <a:prstGeom prst="line">
            <a:avLst/>
          </a:prstGeom>
          <a:noFill/>
          <a:ln w="17145">
            <a:solidFill>
              <a:srgbClr val="3DDCF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509760" y="2212848"/>
            <a:ext cx="530352" cy="2542032"/>
          </a:xfrm>
          <a:prstGeom prst="line">
            <a:avLst/>
          </a:prstGeom>
          <a:noFill/>
          <a:ln w="17145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24128" y="5687568"/>
            <a:ext cx="9966960" cy="438912"/>
          </a:xfrm>
          <a:prstGeom prst="roundRect">
            <a:avLst>
              <a:gd name="adj" fmla="val 20833"/>
            </a:avLst>
          </a:prstGeom>
          <a:solidFill>
            <a:srgbClr val="173F55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5815584"/>
            <a:ext cx="9820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前端选择“外部路由系统”时，平台只创建 pending 工单；路由回写 placements 后返回 network_bindings，路由下发网络并调用 network-ready 后平台启动。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输入输出规范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输入输出只抓两个 JSON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字段冻结：后续只增不改，避免联调后反复改接口。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1627632"/>
            <a:ext cx="5358384" cy="4251960"/>
          </a:xfrm>
          <a:prstGeom prst="roundRect">
            <a:avLst>
              <a:gd name="adj" fmla="val 2581"/>
            </a:avLst>
          </a:prstGeom>
          <a:solidFill>
            <a:srgbClr val="04111C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792224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8425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输入：routing_input_dag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86968" y="2194560"/>
            <a:ext cx="4901184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"job_id": "&lt;order_id&gt;",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"nodes": [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{"node_id":"source",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"node_type":"endpoint",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"fixed_node_name":"源节点名"},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{"node_id":"compute",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"node_type":"compute",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"resources":{"gpu_units":1}},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{"node_id":"sink",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"node_type":"endpoint",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"fixed_node_name":"目的节点名"}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]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355080" y="1627632"/>
            <a:ext cx="5175504" cy="4251960"/>
          </a:xfrm>
          <a:prstGeom prst="roundRect">
            <a:avLst>
              <a:gd name="adj" fmla="val 2581"/>
            </a:avLst>
          </a:prstGeom>
          <a:solidFill>
            <a:srgbClr val="04111C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1792224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62E29A">
              <a:alpha val="92000"/>
            </a:srgbClr>
          </a:solidFill>
          <a:ln w="7620">
            <a:solidFill>
              <a:srgbClr val="62E29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8425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输出：POST result + network-ready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0" y="2194560"/>
            <a:ext cx="4718304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"strategy": "resource_guarantee",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"placements": [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{"node_id":"compute",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"worker_host":"算力节点名",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"gpu_device":"0"}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],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"metadata": {"path":["源节点","算力节点","目的节点"]}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D9E8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GPU 独占与释放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为什么要按 GPU 槽位分批执行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GPU 被多个 benchmark 任务争用时，业务目标成功率会被拖低。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" y="2139696"/>
            <a:ext cx="1444752" cy="566928"/>
          </a:xfrm>
          <a:prstGeom prst="roundRect">
            <a:avLst>
              <a:gd name="adj" fmla="val 16129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23317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空闲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67712" y="2423160"/>
            <a:ext cx="640080" cy="0"/>
          </a:xfrm>
          <a:prstGeom prst="line">
            <a:avLst/>
          </a:prstGeom>
          <a:noFill/>
          <a:ln w="17145">
            <a:solidFill>
              <a:srgbClr val="62E2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35224" y="2139696"/>
            <a:ext cx="1444752" cy="566928"/>
          </a:xfrm>
          <a:prstGeom prst="roundRect">
            <a:avLst>
              <a:gd name="adj" fmla="val 16129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8376" y="23317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路由分配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16552" y="2423160"/>
            <a:ext cx="640080" cy="0"/>
          </a:xfrm>
          <a:prstGeom prst="line">
            <a:avLst/>
          </a:prstGeom>
          <a:noFill/>
          <a:ln w="17145">
            <a:solidFill>
              <a:srgbClr val="3DDC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84064" y="2139696"/>
            <a:ext cx="1444752" cy="566928"/>
          </a:xfrm>
          <a:prstGeom prst="roundRect">
            <a:avLst>
              <a:gd name="adj" fmla="val 16129"/>
            </a:avLst>
          </a:prstGeom>
          <a:solidFill>
            <a:srgbClr val="12384B"/>
          </a:solidFill>
          <a:ln w="1016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3317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平台部署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65392" y="2423160"/>
            <a:ext cx="640080" cy="0"/>
          </a:xfrm>
          <a:prstGeom prst="line">
            <a:avLst/>
          </a:prstGeom>
          <a:noFill/>
          <a:ln w="17145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32904" y="2139696"/>
            <a:ext cx="1444752" cy="566928"/>
          </a:xfrm>
          <a:prstGeom prst="roundRect">
            <a:avLst>
              <a:gd name="adj" fmla="val 16129"/>
            </a:avLst>
          </a:prstGeom>
          <a:solidFill>
            <a:srgbClr val="12384B"/>
          </a:solidFill>
          <a:ln w="10160">
            <a:solidFill>
              <a:srgbClr val="27D6A4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23317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任务结束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14232" y="2423160"/>
            <a:ext cx="640080" cy="0"/>
          </a:xfrm>
          <a:prstGeom prst="line">
            <a:avLst/>
          </a:prstGeom>
          <a:noFill/>
          <a:ln w="17145">
            <a:solidFill>
              <a:srgbClr val="27D6A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81744" y="2139696"/>
            <a:ext cx="1444752" cy="566928"/>
          </a:xfrm>
          <a:prstGeom prst="roundRect">
            <a:avLst>
              <a:gd name="adj" fmla="val 16129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4896" y="23317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释放事件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794760"/>
            <a:ext cx="4892040" cy="1353312"/>
          </a:xfrm>
          <a:prstGeom prst="roundRect">
            <a:avLst>
              <a:gd name="adj" fmla="val 8108"/>
            </a:avLst>
          </a:prstGeom>
          <a:solidFill>
            <a:srgbClr val="12384B"/>
          </a:solidFill>
          <a:ln w="10160">
            <a:solidFill>
              <a:srgbClr val="FF6B6B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5568" y="4041648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FF6B6B">
              <a:alpha val="92000"/>
            </a:srgbClr>
          </a:solidFill>
          <a:ln w="762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40919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平台兜底拒绝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5568" y="44805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worker_host + gpu_device 已被未释放任务占用，result 接口返回 409，路由系统撤销扣减并重新选择或 requeue。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263640" y="3794760"/>
            <a:ext cx="4892040" cy="1353312"/>
          </a:xfrm>
          <a:prstGeom prst="roundRect">
            <a:avLst>
              <a:gd name="adj" fmla="val 8108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0528" y="4041648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62E29A">
              <a:alpha val="92000"/>
            </a:srgbClr>
          </a:solidFill>
          <a:ln w="7620">
            <a:solidFill>
              <a:srgbClr val="62E29A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40919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资源释放事件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10528" y="44805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任务停止、删除或清理实例时，平台写 routing_resource_events；路由系统 ack 后加回自己的资源表。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30 工单测评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任务数多于 GPU 数量时怎么跑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个工单不是一次性全并发，而是按 compute 节点 + GPU 编号形成槽位。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1828800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99339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算力节点 A / GPU0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246120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3DDCFF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32504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3DDCFF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3DDCFF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05272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3DDCFF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1656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64424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1828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28048" y="2084832"/>
            <a:ext cx="667512" cy="0"/>
          </a:xfrm>
          <a:prstGeom prst="line">
            <a:avLst/>
          </a:prstGeom>
          <a:noFill/>
          <a:ln w="17145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241280" y="1847088"/>
            <a:ext cx="822960" cy="475488"/>
          </a:xfrm>
          <a:prstGeom prst="roundRect">
            <a:avLst>
              <a:gd name="adj" fmla="val 19231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14432" y="199339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804672" y="2907792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307238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算力节点 B / GPU0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246120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62E29A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32504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62E29A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62E29A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05272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62E29A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1656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64424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50808" y="29077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28048" y="3163824"/>
            <a:ext cx="667512" cy="0"/>
          </a:xfrm>
          <a:prstGeom prst="line">
            <a:avLst/>
          </a:prstGeom>
          <a:noFill/>
          <a:ln w="17145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241280" y="2926080"/>
            <a:ext cx="822960" cy="475488"/>
          </a:xfrm>
          <a:prstGeom prst="roundRect">
            <a:avLst>
              <a:gd name="adj" fmla="val 19231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14432" y="307238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804672" y="3986784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12384B"/>
          </a:solidFill>
          <a:ln w="1016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41513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算力节点 C / GPU0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3246120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D166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32504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D166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D166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05272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D166"/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1656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64424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50808" y="3986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73F55">
              <a:alpha val="80000"/>
            </a:srgbClr>
          </a:solidFill>
          <a:ln w="1270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28048" y="4242816"/>
            <a:ext cx="667512" cy="0"/>
          </a:xfrm>
          <a:prstGeom prst="line">
            <a:avLst/>
          </a:prstGeom>
          <a:noFill/>
          <a:ln w="17145">
            <a:solidFill>
              <a:srgbClr val="8EA8B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241280" y="4005072"/>
            <a:ext cx="822960" cy="475488"/>
          </a:xfrm>
          <a:prstGeom prst="roundRect">
            <a:avLst>
              <a:gd name="adj" fmla="val 19231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14432" y="415137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822960" y="5257800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12384B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0704" y="55412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平台执行策略：每个 slot 单任务并发；完成一批释放一批；保留工单证据，按需清理容器实例。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6309360" y="5257800"/>
            <a:ext cx="4864608" cy="749808"/>
          </a:xfrm>
          <a:prstGeom prst="roundRect">
            <a:avLst>
              <a:gd name="adj" fmla="val 14634"/>
            </a:avLst>
          </a:prstGeom>
          <a:solidFill>
            <a:srgbClr val="12384B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7104" y="554126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路由系统策略：pending 工单会在资源释放后继续被扫描；资源扣减和加回都以 order_id 为准。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ns0:sld xmlns:a="http://schemas.openxmlformats.org/drawingml/2006/main" xmlns:ns0="http://schemas.openxmlformats.org/presentationml/2006/main">
  <ns0:cSld name="Slide 9">
    <ns0:bg>
      <ns0:bgPr>
        <a:solidFill>
          <a:srgbClr val="071827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502920" y="228600"/>
            <a:ext cx="5029200" cy="2286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路由同学最小实现</a:t>
            </a:r>
            <a:endParaRPr lang="en-US" sz="85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502920" y="6510528"/>
            <a:ext cx="457200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11292840" y="6464808"/>
            <a:ext cx="411480" cy="1828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594360" y="658368"/>
            <a:ext cx="8138160" cy="43891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路由系统要实现的 6 件事</a:t>
            </a:r>
            <a:endParaRPr lang="en-US" sz="26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21792" y="1143000"/>
            <a:ext cx="987552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这一页就是最小交付清单，按顺序做即可联调。</a:t>
            </a:r>
            <a:endParaRPr lang="en-US" sz="10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13232" y="1609344"/>
            <a:ext cx="10771632" cy="4389120"/>
          </a:xfrm>
          <a:prstGeom prst="roundRect">
            <a:avLst>
              <a:gd name="adj" fmla="val 2500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ns0:spPr>
      </ns0:sp>
      <ns0:sp>
        <ns0:nvSpPr>
          <ns0:cNvPr id="14" name="Shape 12"/>
          <ns0:cNvSpPr/>
          <ns0:nvPr/>
        </ns0:nvSpPr>
        <ns0:spPr>
          <a:xfrm>
            <a:off x="987552" y="1920240"/>
            <a:ext cx="384048" cy="384048"/>
          </a:xfrm>
          <a:prstGeom prst="ellipse">
            <a:avLst/>
          </a:prstGeom>
          <a:solidFill>
            <a:srgbClr val="3DDCFF"/>
          </a:solidFill>
          <a:ln w="12700">
            <a:solidFill>
              <a:srgbClr val="3DDCFF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987552" y="1993392"/>
            <a:ext cx="384048" cy="12801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554480" y="1938528"/>
            <a:ext cx="1280160" cy="1828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扫表</a:t>
            </a:r>
            <a:endParaRPr lang="en-US" sz="105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2816352" y="1947672"/>
            <a:ext cx="78638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task_orders 中 routing_status='pending' 的工单</a:t>
            </a:r>
            <a:endParaRPr lang="en-US" sz="96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987552" y="2487168"/>
            <a:ext cx="384048" cy="384048"/>
          </a:xfrm>
          <a:prstGeom prst="ellipse">
            <a:avLst/>
          </a:prstGeom>
          <a:solidFill>
            <a:srgbClr val="62E29A"/>
          </a:solidFill>
          <a:ln w="12700">
            <a:solidFill>
              <a:srgbClr val="62E29A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987552" y="2560320"/>
            <a:ext cx="384048" cy="12801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1554480" y="2505456"/>
            <a:ext cx="1280160" cy="1828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</a:t>
            </a:r>
            <a:endParaRPr lang="en-US" sz="10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2816352" y="2514600"/>
            <a:ext cx="78638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claim 接口；成功后才开始计算</a:t>
            </a:r>
            <a:endParaRPr lang="en-US" sz="96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987552" y="3054096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ns0:spPr>
      </ns0:sp>
      <ns0:sp>
        <ns0:nvSpPr>
          <ns0:cNvPr id="23" name="Text 21"/>
          <ns0:cNvSpPr/>
          <ns0:nvPr/>
        </ns0:nvSpPr>
        <ns0:spPr>
          <a:xfrm>
            <a:off x="987552" y="3127248"/>
            <a:ext cx="384048" cy="12801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4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1554480" y="3072384"/>
            <a:ext cx="1280160" cy="1828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endParaRPr lang="en-US" sz="105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2816352" y="3081528"/>
            <a:ext cx="78638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DAG，选择 compute worker_host 和 gpu_device</a:t>
            </a:r>
            <a:endParaRPr lang="en-US" sz="96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987552" y="3621024"/>
            <a:ext cx="384048" cy="384048"/>
          </a:xfrm>
          <a:prstGeom prst="ellipse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987552" y="3694176"/>
            <a:ext cx="384048" cy="12801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40" dirty="0"/>
          </a:p>
        </ns0:txBody>
      </ns0:sp>
      <ns0:sp>
        <ns0:nvSpPr>
          <ns0:cNvPr id="28" name="Text 26"/>
          <ns0:cNvSpPr/>
          <ns0:nvPr/>
        </ns0:nvSpPr>
        <ns0:spPr>
          <a:xfrm>
            <a:off x="1554480" y="3639312"/>
            <a:ext cx="1280160" cy="1828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</a:t>
            </a:r>
            <a:endParaRPr lang="en-US" sz="1050" dirty="0"/>
          </a:p>
        </ns0:txBody>
      </ns0:sp>
      <ns0:sp>
        <ns0:nvSpPr>
          <ns0:cNvPr id="29" name="Text 27"/>
          <ns0:cNvSpPr/>
          <ns0:nvPr/>
        </ns0:nvSpPr>
        <ns0:spPr>
          <a:xfrm>
            <a:off x="2816352" y="3648456"/>
            <a:ext cx="78638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result 接口，写 placements，并读取 network_bindings</a:t>
            </a:r>
            <a:endParaRPr lang="en-US" sz="96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987552" y="4187952"/>
            <a:ext cx="384048" cy="384048"/>
          </a:xfrm>
          <a:prstGeom prst="ellipse">
            <a:avLst/>
          </a:prstGeom>
          <a:solidFill>
            <a:srgbClr val="62E29A"/>
          </a:solidFill>
          <a:ln w="12700">
            <a:solidFill>
              <a:srgbClr val="62E29A"/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987552" y="4261104"/>
            <a:ext cx="384048" cy="12801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4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1554480" y="4206240"/>
            <a:ext cx="1280160" cy="1828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</a:t>
            </a:r>
            <a:endParaRPr lang="en-US" sz="105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2816352" y="4215384"/>
            <a:ext cx="78638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下发流表/QoS 后调用 network-ready</a:t>
            </a:r>
            <a:endParaRPr lang="en-US" sz="960" dirty="0"/>
          </a:p>
        </ns0:txBody>
      </ns0:sp>
      <ns0:sp>
        <ns0:nvSpPr>
          <ns0:cNvPr id="34" name="Shape 32"/>
          <ns0:cNvSpPr/>
          <ns0:nvPr/>
        </ns0:nvSpPr>
        <ns0:spPr>
          <a:xfrm>
            <a:off x="987552" y="4754880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ns0:spPr>
      </ns0:sp>
      <ns0:sp>
        <ns0:nvSpPr>
          <ns0:cNvPr id="35" name="Text 33"/>
          <ns0:cNvSpPr/>
          <ns0:nvPr/>
        </ns0:nvSpPr>
        <ns0:spPr>
          <a:xfrm>
            <a:off x="987552" y="4828032"/>
            <a:ext cx="384048" cy="12801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40" dirty="0"/>
          </a:p>
        </ns0:txBody>
      </ns0:sp>
      <ns0:sp>
        <ns0:nvSpPr>
          <ns0:cNvPr id="36" name="Text 34"/>
          <ns0:cNvSpPr/>
          <ns0:nvPr/>
        </ns0:nvSpPr>
        <ns0:spPr>
          <a:xfrm>
            <a:off x="1554480" y="4773168"/>
            <a:ext cx="1280160" cy="1828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释放/异常</a:t>
            </a:r>
            <a:endParaRPr lang="en-US" sz="1050" dirty="0"/>
          </a:p>
        </ns0:txBody>
      </ns0:sp>
      <ns0:sp>
        <ns0:nvSpPr>
          <ns0:cNvPr id="37" name="Text 35"/>
          <ns0:cNvSpPr/>
          <ns0:nvPr/>
        </ns0:nvSpPr>
        <ns0:spPr>
          <a:xfrm>
            <a:off x="2816352" y="4782312"/>
            <a:ext cx="78638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release events 加回资源；资源不足 requeue；409 撤销扣减</a:t>
            </a:r>
            <a:endParaRPr lang="en-US" sz="960" dirty="0"/>
          </a:p>
        </ns0:txBody>
      </ns0:sp>
      <ns0:sp>
        <ns0:nvSpPr>
          <ns0:cNvPr id="38" name="Shape 36"/>
          <ns0:cNvSpPr/>
          <ns0:nvPr/>
        </ns0:nvSpPr>
        <ns0:spPr>
          <a:xfrm>
            <a:off x="987552" y="5687568"/>
            <a:ext cx="10012680" cy="384048"/>
          </a:xfrm>
          <a:prstGeom prst="roundRect">
            <a:avLst>
              <a:gd name="adj" fmla="val 23810"/>
            </a:avLst>
          </a:prstGeom>
          <a:solidFill>
            <a:srgbClr val="173F55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ns0:spPr>
      </ns0:sp>
      <ns0:sp>
        <ns0:nvSpPr>
          <ns0:cNvPr id="39" name="Text 37"/>
          <ns0:cNvSpPr/>
          <ns0:nvPr/>
        </ns0:nvSpPr>
        <ns0:spPr>
          <a:xfrm>
            <a:off x="1060704" y="5788152"/>
            <a:ext cx="9866376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交付标准：前端切换到“外部路由系统”后，3 个联调工单跑通，再跑 30 个 benchmark 工单。</a:t>
            </a:r>
            <a:endParaRPr lang="en-US" sz="980" dirty="0"/>
          </a:p>
        </ns0:txBody>
      </ns0:sp>
    </ns0:spTree>
  </ns0:cSld>
  <ns0:clrMapOvr>
    <a:masterClrMapping/>
  </ns0:clrMapOvr>
</ns0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03520"/>
            <a:ext cx="3291840" cy="3291840"/>
          </a:xfrm>
          <a:prstGeom prst="arc">
            <a:avLst/>
          </a:prstGeom>
          <a:noFill/>
          <a:ln w="12700">
            <a:solidFill>
              <a:srgbClr val="27D6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联调部署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外部路由系统对接说明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推荐联调方式：都部署在管理节点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路由服务跑在 admin-server 某个端口，直连同一个 MySQL，调用平台 HTTP 接口回写。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1664208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828800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部署位置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0976" y="205740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admin-server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0976" y="2505456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独立进程或容器均可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443984" y="1664208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828800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5152" y="205740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45152" y="2505456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只读待路由工单和 DAG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8138160" y="1664208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28800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回写方式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39328" y="205740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339328" y="2505456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token；result 返回 bindings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749808" y="3310128"/>
            <a:ext cx="10634472" cy="1993392"/>
          </a:xfrm>
          <a:prstGeom prst="roundRect">
            <a:avLst>
              <a:gd name="adj" fmla="val 5505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联调顺序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986784"/>
            <a:ext cx="9601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第一步：平台创建 3 个 pending 工单，路由系统 claim 后回写 placements，并读取 network_bindings。</a:t>
            </a:r>
            <a:endParaRPr lang="en-US" sz="1050" dirty="0"/>
          </a:p>
          <a:p>
            <a:r>
              <a:rPr lang="en-US" sz="105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第二步：路由系统下发网络规则并调用 network-ready，平台页面能看到 compute/GPU。</a:t>
            </a:r>
            <a:endParaRPr lang="en-US" sz="1050" dirty="0"/>
          </a:p>
          <a:p>
            <a:r>
              <a:rPr lang="en-US" sz="105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第三步：任务结束后平台写 release events，路由系统 ack 并加回资源。</a:t>
            </a:r>
            <a:endParaRPr lang="en-US" sz="1050" dirty="0"/>
          </a:p>
          <a:p>
            <a:r>
              <a:rPr lang="en-US" sz="105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第四步：切到 30 个 benchmark 工单，验证成功率看板不低于 90%。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51560" y="5715000"/>
            <a:ext cx="9948672" cy="384048"/>
          </a:xfrm>
          <a:prstGeom prst="roundRect">
            <a:avLst>
              <a:gd name="adj" fmla="val 23810"/>
            </a:avLst>
          </a:prstGeom>
          <a:solidFill>
            <a:srgbClr val="173F55"/>
          </a:solidFill>
          <a:ln w="10160">
            <a:solidFill>
              <a:srgbClr val="62E29A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5815584"/>
            <a:ext cx="9802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一句话：路由系统管算路和资源池；平台管生命周期、容器和业务证据。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外部路由系统对接讲解</dc:title>
  <dc:subject>外部路由系统对接</dc:subject>
  <dc:creator>manage-deploy</dc:creator>
  <cp:lastModifiedBy>manage-deploy</cp:lastModifiedBy>
  <cp:revision>1</cp:revision>
  <dcterms:created xsi:type="dcterms:W3CDTF">2026-06-10T09:57:51Z</dcterms:created>
  <dcterms:modified xsi:type="dcterms:W3CDTF">2026-06-10T09:57:51Z</dcterms:modified>
</cp:coreProperties>
</file>